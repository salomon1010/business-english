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room is not the room you pitched. These partners were not at the first meeting, they have no reason to care about a product tour, and their question is simpler: what does this add to our academy?</a:t>
            </a:r>
          </a:p>
          <a:p/>
          <a:p>
            <a:r>
              <a:t>Open on that, not on yourself:</a:t>
            </a:r>
          </a:p>
          <a:p/>
          <a:p>
            <a:r>
              <a:t>"I am not here to sell you software. I am here to show you what a communication layer adds to programmes you already run — and to ask for four weeks to prove it at no cost."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them, not with you. Say what they are good at, accurately, and mean it.</a:t>
            </a:r>
          </a:p>
          <a:p/>
          <a:p>
            <a:r>
              <a:t>"You train people to read a P&amp;ID, an isometric, a metal-structure drawing. Nine programmes, supervisory pathways, a Pearson VUE centre, a route to CMIT and CIOB. That is a serious technical offer and none of it needs fixing."</a:t>
            </a:r>
          </a:p>
          <a:p/>
          <a:p>
            <a:r>
              <a:t>You are establishing that you have done your homework and you are not about to tell them their business.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slowly. Then stop and let it sit.</a:t>
            </a:r>
          </a:p>
          <a:p/>
          <a:p>
            <a:r>
              <a:t>"That market is English-speaking. Your graduate can read the drawing perfectly — and then has to brief a crew from it, tell a fabricator the fit-up is wrong, answer an inspector, and sit an interview. In English, out loud, under pressure."</a:t>
            </a:r>
          </a:p>
          <a:p/>
          <a:p>
            <a:r>
              <a:t>Then: "Reading is taught. Saying it is not." Pause. If one of them nods, you have the room.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Their own words. Do not say it accusingly — whoever wrote it believed it, and they were right to.</a:t>
            </a:r>
          </a:p>
          <a:p/>
          <a:p>
            <a:r>
              <a:t>"You already tell learners this. It is on the course page today. So the question is not whether English belongs in your offer — you decided that. The question is whether it is delivered and evidenced, or just promised."</a:t>
            </a:r>
          </a:p>
          <a:p/>
          <a:p>
            <a:r>
              <a:t>This is the slide that makes the rest of the meeting easy, because you are arguing from their decision, not yours.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walk through this item by item — they will read it. Name the shape of it:</a:t>
            </a:r>
          </a:p>
          <a:p/>
          <a:p>
            <a:r>
              <a:t>"This is the whole package, and it is not a subscription to a vocabulary app. It is workplace conversation practice, an interview room, a report that names what was missing, and a record the learner can show an employer. Free for your learners during the pilot, and free for the academy permanently — there is no platform fee in this model."</a:t>
            </a:r>
          </a:p>
          <a:p/>
          <a:p>
            <a:r>
              <a:t>Point at 'Starts where the learner is' and say where it came from: "Your own students told us the app opened above their level. This was built from that, in a week. That is how this partnership will work."</a:t>
            </a:r>
          </a:p>
          <a:p/>
          <a:p>
            <a:r>
              <a:t>If someone asks the cost question here, take it: 'Nothing during the pilot. After it, whatever the pilot shows is fair — and you would help set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commercial slide and the one the partners actually came for. Slow down.</a:t>
            </a:r>
          </a:p>
          <a:p/>
          <a:p>
            <a:r>
              <a:t>"Three things this adds that you cannot currently claim. Your offer gets a differentiator no competing academy in the region has. Your graduates get placeable in English-speaking markets, which is the outcome they are paying you for. And you get evidence — not attendance, evidence — that you can put in front of an employer or a funder."</a:t>
            </a:r>
          </a:p>
          <a:p/>
          <a:p>
            <a:r>
              <a:t>If they only remember one slide, this is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the limit before anyone finds it. In a room of partners this earns more than a feature would.</a:t>
            </a:r>
          </a:p>
          <a:p/>
          <a:p>
            <a:r>
              <a:t>"Three of your programmes are covered today. Six are not. I am not going to stand here and tell you otherwise."</a:t>
            </a:r>
          </a:p>
          <a:p/>
          <a:p>
            <a:r>
              <a:t>Then hand them the decision: "The pilot decides which one is built next, and you choose it." A partner who picks the roadmap is a partner, not a customer.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Partners think about downside before upside. Get there before they do.</a:t>
            </a:r>
          </a:p>
          <a:p/>
          <a:p>
            <a:r>
              <a:t>"Let me do the risk assessment for you. It costs nothing. It commits you to nothing. It touches none of your technical teaching or your certification. No learner data leaves the learner's phone. And either side can stop it on any day for any reason."</a:t>
            </a:r>
          </a:p>
          <a:p/>
          <a:p>
            <a:r>
              <a:t>Then be quiet for a beat. This slide is designed to end objections, not to start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left column slowly. It is short on purpose — that shortness is the offer.</a:t>
            </a:r>
          </a:p>
          <a:p/>
          <a:p>
            <a:r>
              <a:t>"Four things from you, three of which take under an hour in total. Everything else is mine, including the measuring and every learner support question."</a:t>
            </a:r>
          </a:p>
          <a:p/>
          <a:p>
            <a:r>
              <a:t>Get a name for the instructor before you leave the room. A pilot with a named instructor happens; one without drifts.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Partners want to know where this goes, not just what it is. Be clear that nothing here is decided today.</a:t>
            </a:r>
          </a:p>
          <a:p/>
          <a:p>
            <a:r>
              <a:t>"If the pilot works, there are four ways this can grow, and you would pick. If it does not work, we both learned something for the price of four weeks and no money."</a:t>
            </a:r>
          </a:p>
          <a:p/>
          <a:p>
            <a:r>
              <a:t>Do not price anything in this room. If pushed: 'I would rather set that from what the pilot shows than guess in front of you — and I would want your view on what is fair.'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let a partner discover this on their own. Saying it yourself is the difference between a partner and a vendor.</a:t>
            </a:r>
          </a:p>
          <a:p/>
          <a:p>
            <a:r>
              <a:t>"Three things this is not, and I would rather you heard them from me. It is not a trade qualification. It is not a recognised English proficiency certificate — the certificate is for completing the app's own programme, and written English is not assessed at all. And it replaces nothing you teach."</a:t>
            </a:r>
          </a:p>
          <a:p/>
          <a:p>
            <a:r>
              <a:t>Then raise the course-page wording. Frame it as protecting them: if a learner enrols expecting a written-English certificate, the complaint arrives at Petrocertif, not at you. A suggested replacement sentence is in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decision, stated plainly, then silence. Do not fill it.</a:t>
            </a:r>
          </a:p>
          <a:p/>
          <a:p>
            <a:r>
              <a:t>"The only decision today is whether one cohort tries this for four weeks. Not a contract, not a price, not a commitment to anything after it."</a:t>
            </a:r>
          </a:p>
          <a:p/>
          <a:p>
            <a:r>
              <a:t>If you get a yes, ask for the week-0 date and the instructor's name before you leave the room. If you get a no, ask the one question worth more than the pilot: "What would have had to be true for this to be a yes?"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titl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2286000"/>
            <a:ext cx="9692640" cy="2377440"/>
          </a:xfrm>
          <a:prstGeom prst="rect">
            <a:avLst/>
          </a:prstGeom>
          <a:noFill/>
        </p:spPr>
        <p:txBody>
          <a:bodyPr wrap="square" lIns="0" rIns="0" tIns="0" bIns="0">
            <a:spAutoFit/>
          </a:bodyPr>
          <a:lstStyle/>
          <a:p>
            <a:pPr algn="l">
              <a:spcAft>
                <a:spcPts val="2000"/>
              </a:spcAft>
            </a:pPr>
            <a:r>
              <a:rPr sz="1300" b="1" i="0">
                <a:solidFill>
                  <a:srgbClr val="A798FF"/>
                </a:solidFill>
                <a:latin typeface="Arial"/>
              </a:rPr>
              <a:t>PARTNERSHIP VALUE</a:t>
            </a:r>
          </a:p>
          <a:p>
            <a:pPr algn="l">
              <a:lnSpc>
                <a:spcPct val="108000"/>
              </a:lnSpc>
              <a:spcAft>
                <a:spcPts val="1600"/>
              </a:spcAft>
            </a:pPr>
            <a:r>
              <a:rPr sz="3800" b="1" i="0">
                <a:solidFill>
                  <a:srgbClr val="FFFFFF"/>
                </a:solidFill>
                <a:latin typeface="Arial"/>
              </a:rPr>
              <a:t>What this adds to
Petrocertif Construction Academy</a:t>
            </a:r>
          </a:p>
          <a:p>
            <a:pPr algn="l">
              <a:spcAft>
                <a:spcPts val="0"/>
              </a:spcAft>
            </a:pPr>
            <a:r>
              <a:rPr sz="1700" b="0" i="0">
                <a:solidFill>
                  <a:srgbClr val="CBC3F5"/>
                </a:solidFill>
                <a:latin typeface="Arial"/>
              </a:rPr>
              <a:t>A communication layer for programmes you already run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WHERE YOU ALREADY ARE</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You build technically competent people</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34015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THE OFFER</a:t>
            </a:r>
          </a:p>
        </p:txBody>
      </p:sp>
      <p:sp>
        <p:nvSpPr>
          <p:cNvPr id="8" name="TextBox 7"/>
          <p:cNvSpPr txBox="1"/>
          <p:nvPr/>
        </p:nvSpPr>
        <p:spPr>
          <a:xfrm>
            <a:off x="1060704"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Nine specialised programmes</a:t>
            </a:r>
          </a:p>
        </p:txBody>
      </p:sp>
      <p:sp>
        <p:nvSpPr>
          <p:cNvPr id="9" name="TextBox 8"/>
          <p:cNvSpPr txBox="1"/>
          <p:nvPr/>
        </p:nvSpPr>
        <p:spPr>
          <a:xfrm>
            <a:off x="1060704"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Reading and interpretation of plans across piping, civil, electrical, instrumentation, renewables, metal structures and storage tanks.</a:t>
            </a:r>
          </a:p>
        </p:txBody>
      </p:sp>
      <p:sp>
        <p:nvSpPr>
          <p:cNvPr id="10" name="Rounded Rectangle 9"/>
          <p:cNvSpPr/>
          <p:nvPr/>
        </p:nvSpPr>
        <p:spPr>
          <a:xfrm>
            <a:off x="4389120" y="2395728"/>
            <a:ext cx="34015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THE PATHWAY</a:t>
            </a:r>
          </a:p>
        </p:txBody>
      </p:sp>
      <p:sp>
        <p:nvSpPr>
          <p:cNvPr id="12" name="TextBox 11"/>
          <p:cNvSpPr txBox="1"/>
          <p:nvPr/>
        </p:nvSpPr>
        <p:spPr>
          <a:xfrm>
            <a:off x="4663440"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Supervisory progression</a:t>
            </a:r>
          </a:p>
        </p:txBody>
      </p:sp>
      <p:sp>
        <p:nvSpPr>
          <p:cNvPr id="13" name="TextBox 12"/>
          <p:cNvSpPr txBox="1"/>
          <p:nvPr/>
        </p:nvSpPr>
        <p:spPr>
          <a:xfrm>
            <a:off x="4663440"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Storage tank, boiler and pressure vessel, industrial piping, welding production — the roles your graduates are actually aiming at.</a:t>
            </a:r>
          </a:p>
        </p:txBody>
      </p:sp>
      <p:sp>
        <p:nvSpPr>
          <p:cNvPr id="14" name="Rounded Rectangle 13"/>
          <p:cNvSpPr/>
          <p:nvPr/>
        </p:nvSpPr>
        <p:spPr>
          <a:xfrm>
            <a:off x="7991856" y="2395728"/>
            <a:ext cx="34015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THE HORIZON</a:t>
            </a:r>
          </a:p>
        </p:txBody>
      </p:sp>
      <p:sp>
        <p:nvSpPr>
          <p:cNvPr id="16" name="TextBox 15"/>
          <p:cNvSpPr txBox="1"/>
          <p:nvPr/>
        </p:nvSpPr>
        <p:spPr>
          <a:xfrm>
            <a:off x="8266176"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International certification</a:t>
            </a:r>
          </a:p>
        </p:txBody>
      </p:sp>
      <p:sp>
        <p:nvSpPr>
          <p:cNvPr id="17" name="TextBox 16"/>
          <p:cNvSpPr txBox="1"/>
          <p:nvPr/>
        </p:nvSpPr>
        <p:spPr>
          <a:xfrm>
            <a:off x="8266176"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A Pearson VUE route toward CMIT, CCM and CIOB. Your learners are being prepared for a market beyond Cameroon.</a:t>
            </a:r>
          </a:p>
        </p:txBody>
      </p:sp>
      <p:sp>
        <p:nvSpPr>
          <p:cNvPr id="18" name="TextBox 17"/>
          <p:cNvSpPr txBox="1"/>
          <p:nvPr/>
        </p:nvSpPr>
        <p:spPr>
          <a:xfrm>
            <a:off x="786384" y="5669280"/>
            <a:ext cx="10607040" cy="457200"/>
          </a:xfrm>
          <a:prstGeom prst="rect">
            <a:avLst/>
          </a:prstGeom>
          <a:noFill/>
        </p:spPr>
        <p:txBody>
          <a:bodyPr wrap="square" lIns="0" rIns="0" tIns="0" bIns="0">
            <a:spAutoFit/>
          </a:bodyPr>
          <a:lstStyle/>
          <a:p>
            <a:pPr algn="l">
              <a:spcAft>
                <a:spcPts val="0"/>
              </a:spcAft>
            </a:pPr>
            <a:r>
              <a:rPr sz="1500" b="1" i="0">
                <a:solidFill>
                  <a:srgbClr val="6B7083"/>
                </a:solidFill>
                <a:latin typeface="Arial"/>
              </a:rPr>
              <a:t>None of that needs fixing. This is about the one step after it.</a:t>
            </a:r>
          </a:p>
        </p:txBody>
      </p:sp>
      <p:sp>
        <p:nvSpPr>
          <p:cNvPr id="19" name="TextBox 18"/>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lef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874519"/>
            <a:ext cx="9509760" cy="3429000"/>
          </a:xfrm>
          <a:prstGeom prst="rect">
            <a:avLst/>
          </a:prstGeom>
          <a:noFill/>
        </p:spPr>
        <p:txBody>
          <a:bodyPr wrap="square" lIns="0" rIns="0" tIns="0" bIns="0">
            <a:spAutoFit/>
          </a:bodyPr>
          <a:lstStyle/>
          <a:p>
            <a:pPr algn="l">
              <a:spcAft>
                <a:spcPts val="2200"/>
              </a:spcAft>
            </a:pPr>
            <a:r>
              <a:rPr sz="1300" b="1" i="0">
                <a:solidFill>
                  <a:srgbClr val="A798FF"/>
                </a:solidFill>
                <a:latin typeface="Arial"/>
              </a:rPr>
              <a:t>THE STEP AFTER</a:t>
            </a:r>
          </a:p>
          <a:p>
            <a:pPr algn="l">
              <a:lnSpc>
                <a:spcPct val="112000"/>
              </a:lnSpc>
              <a:spcAft>
                <a:spcPts val="800"/>
              </a:spcAft>
            </a:pPr>
            <a:r>
              <a:rPr sz="3300" b="1" i="0">
                <a:solidFill>
                  <a:srgbClr val="FFFFFF"/>
                </a:solidFill>
                <a:latin typeface="Arial"/>
              </a:rPr>
              <a:t>The market you prepare them for</a:t>
            </a:r>
          </a:p>
          <a:p>
            <a:pPr algn="l">
              <a:lnSpc>
                <a:spcPct val="112000"/>
              </a:lnSpc>
              <a:spcAft>
                <a:spcPts val="2400"/>
              </a:spcAft>
            </a:pPr>
            <a:r>
              <a:rPr sz="3300" b="1" i="0">
                <a:solidFill>
                  <a:srgbClr val="A798FF"/>
                </a:solidFill>
                <a:latin typeface="Arial"/>
              </a:rPr>
              <a:t>runs in English, out loud.</a:t>
            </a:r>
          </a:p>
          <a:p>
            <a:pPr algn="l">
              <a:lnSpc>
                <a:spcPct val="140000"/>
              </a:lnSpc>
              <a:spcAft>
                <a:spcPts val="0"/>
              </a:spcAft>
            </a:pPr>
            <a:r>
              <a:rPr sz="1500" b="0" i="0">
                <a:solidFill>
                  <a:srgbClr val="CBC3F5"/>
                </a:solidFill>
                <a:latin typeface="Arial"/>
              </a:rPr>
              <a:t>A drawing read perfectly is worth nothing if the supervisor cannot brief the crew from it, answer the inspector, or get through the interview that puts them on the site in the first place.</a:t>
            </a:r>
          </a:p>
        </p:txBody>
      </p:sp>
      <p:sp>
        <p:nvSpPr>
          <p:cNvPr id="4" name="TextBox 3"/>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CBC3F5"/>
                </a:solidFill>
                <a:latin typeface="Arial"/>
              </a:rPr>
              <a:t>app.lomonec.com  ·  contact@lomonec.com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YOU HAVE ALREADY DECIDED THIS MATTERS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It is on your course page today</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10607040" cy="160020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633472"/>
            <a:ext cx="9875520" cy="1097280"/>
          </a:xfrm>
          <a:prstGeom prst="rect">
            <a:avLst/>
          </a:prstGeom>
          <a:noFill/>
        </p:spPr>
        <p:txBody>
          <a:bodyPr wrap="square" lIns="0" rIns="0" tIns="0" bIns="0">
            <a:spAutoFit/>
          </a:bodyPr>
          <a:lstStyle/>
          <a:p>
            <a:pPr algn="l">
              <a:lnSpc>
                <a:spcPct val="130000"/>
              </a:lnSpc>
              <a:spcAft>
                <a:spcPts val="600"/>
              </a:spcAft>
            </a:pPr>
            <a:r>
              <a:rPr sz="1700" b="1" i="0">
                <a:solidFill>
                  <a:srgbClr val="2B1F5E"/>
                </a:solidFill>
                <a:latin typeface="Arial"/>
              </a:rPr>
              <a:t>“Enhance your professional English skills, with certification in written and spoken English and a shadowing approach via our LomoneC App — app.lomonec.com”</a:t>
            </a:r>
          </a:p>
          <a:p>
            <a:pPr algn="l">
              <a:spcAft>
                <a:spcPts val="0"/>
              </a:spcAft>
            </a:pPr>
            <a:r>
              <a:rPr sz="1200" b="0" i="0">
                <a:solidFill>
                  <a:srgbClr val="6B7083"/>
                </a:solidFill>
                <a:latin typeface="Arial"/>
              </a:rPr>
              <a:t>— Petrocertif Construction Academy, published course offer</a:t>
            </a:r>
          </a:p>
        </p:txBody>
      </p:sp>
      <p:sp>
        <p:nvSpPr>
          <p:cNvPr id="8" name="TextBox 7"/>
          <p:cNvSpPr txBox="1"/>
          <p:nvPr/>
        </p:nvSpPr>
        <p:spPr>
          <a:xfrm>
            <a:off x="786384" y="4297680"/>
            <a:ext cx="10607040" cy="1463040"/>
          </a:xfrm>
          <a:prstGeom prst="rect">
            <a:avLst/>
          </a:prstGeom>
          <a:noFill/>
        </p:spPr>
        <p:txBody>
          <a:bodyPr wrap="square" lIns="0" rIns="0" tIns="0" bIns="0">
            <a:spAutoFit/>
          </a:bodyPr>
          <a:lstStyle/>
          <a:p>
            <a:pPr algn="l">
              <a:spcAft>
                <a:spcPts val="800"/>
              </a:spcAft>
            </a:pPr>
            <a:r>
              <a:rPr sz="1900" b="1" i="0">
                <a:solidFill>
                  <a:srgbClr val="2B1F5E"/>
                </a:solidFill>
                <a:latin typeface="Arial"/>
              </a:rPr>
              <a:t>The decision is made. What is missing is delivery and proof.</a:t>
            </a:r>
          </a:p>
          <a:p>
            <a:pPr algn="l">
              <a:lnSpc>
                <a:spcPct val="135000"/>
              </a:lnSpc>
              <a:spcAft>
                <a:spcPts val="0"/>
              </a:spcAft>
            </a:pPr>
            <a:r>
              <a:rPr sz="1500" b="0" i="0">
                <a:solidFill>
                  <a:srgbClr val="3A3A46"/>
                </a:solidFill>
                <a:latin typeface="Arial"/>
              </a:rPr>
              <a:t>Today that line is a promise with nothing behind it. Four weeks from now it can be a number you are willing to publish.</a:t>
            </a:r>
          </a:p>
        </p:txBody>
      </p:sp>
      <p:sp>
        <p:nvSpPr>
          <p:cNvPr id="9" name="TextBox 8"/>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WHAT IS IN THE PACKAGE</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Everything your learners would get</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487168"/>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12 workplace conversations</a:t>
            </a:r>
            <a:r>
              <a:rPr sz="1350">
                <a:solidFill>
                  <a:srgbClr val="3A3A46"/>
                </a:solidFill>
                <a:latin typeface="Arial"/>
              </a:rPr>
              <a:t> — with a five-person crew: HR, supervisor, coworker, safety officer, QA inspector</a:t>
            </a:r>
          </a:p>
        </p:txBody>
      </p:sp>
      <p:sp>
        <p:nvSpPr>
          <p:cNvPr id="8" name="Rounded Rectangle 7"/>
          <p:cNvSpPr/>
          <p:nvPr/>
        </p:nvSpPr>
        <p:spPr>
          <a:xfrm>
            <a:off x="786384" y="3401568"/>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511296"/>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12 interview coaches</a:t>
            </a:r>
            <a:r>
              <a:rPr sz="1350">
                <a:solidFill>
                  <a:srgbClr val="3A3A46"/>
                </a:solidFill>
                <a:latin typeface="Arial"/>
              </a:rPr>
              <a:t> — one per part of the professional story, repeatable without limit</a:t>
            </a:r>
          </a:p>
        </p:txBody>
      </p:sp>
      <p:sp>
        <p:nvSpPr>
          <p:cNvPr id="10" name="Rounded Rectangle 9"/>
          <p:cNvSpPr/>
          <p:nvPr/>
        </p:nvSpPr>
        <p:spPr>
          <a:xfrm>
            <a:off x="786384" y="4425696"/>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535424"/>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A report on every answer</a:t>
            </a:r>
            <a:r>
              <a:rPr sz="1350">
                <a:solidFill>
                  <a:srgbClr val="3A3A46"/>
                </a:solidFill>
                <a:latin typeface="Arial"/>
              </a:rPr>
              <a:t> — what was covered, what was missed, the better sentence</a:t>
            </a:r>
          </a:p>
        </p:txBody>
      </p:sp>
      <p:sp>
        <p:nvSpPr>
          <p:cNvPr id="12" name="Rounded Rectangle 11"/>
          <p:cNvSpPr/>
          <p:nvPr/>
        </p:nvSpPr>
        <p:spPr>
          <a:xfrm>
            <a:off x="6272784" y="2377440"/>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7104" y="2487168"/>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Starts where the learner is</a:t>
            </a:r>
            <a:r>
              <a:rPr sz="1350">
                <a:solidFill>
                  <a:srgbClr val="3A3A46"/>
                </a:solidFill>
                <a:latin typeface="Arial"/>
              </a:rPr>
              <a:t> — a one-minute check, then Foundations: three sentences a day, French under every line</a:t>
            </a:r>
          </a:p>
        </p:txBody>
      </p:sp>
      <p:sp>
        <p:nvSpPr>
          <p:cNvPr id="14" name="Rounded Rectangle 13"/>
          <p:cNvSpPr/>
          <p:nvPr/>
        </p:nvSpPr>
        <p:spPr>
          <a:xfrm>
            <a:off x="6272784" y="3401568"/>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7104" y="3511296"/>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Evidence they can show</a:t>
            </a:r>
            <a:r>
              <a:rPr sz="1350">
                <a:solidFill>
                  <a:srgbClr val="3A3A46"/>
                </a:solidFill>
                <a:latin typeface="Arial"/>
              </a:rPr>
              <a:t> — answers spoken, coverage, trade words actually used</a:t>
            </a:r>
          </a:p>
        </p:txBody>
      </p:sp>
      <p:sp>
        <p:nvSpPr>
          <p:cNvPr id="16" name="Rounded Rectangle 15"/>
          <p:cNvSpPr/>
          <p:nvPr/>
        </p:nvSpPr>
        <p:spPr>
          <a:xfrm>
            <a:off x="6272784" y="4425696"/>
            <a:ext cx="5120640" cy="87782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4535424"/>
            <a:ext cx="4572000" cy="694944"/>
          </a:xfrm>
          <a:prstGeom prst="rect">
            <a:avLst/>
          </a:prstGeom>
          <a:noFill/>
        </p:spPr>
        <p:txBody>
          <a:bodyPr wrap="square" lIns="0" rIns="0" tIns="0" bIns="0">
            <a:spAutoFit/>
          </a:bodyPr>
          <a:lstStyle/>
          <a:p>
            <a:pPr algn="l">
              <a:lnSpc>
                <a:spcPct val="128000"/>
              </a:lnSpc>
              <a:spcAft>
                <a:spcPts val="0"/>
              </a:spcAft>
            </a:pPr>
            <a:r>
              <a:rPr sz="1350" b="0" i="0">
                <a:solidFill>
                  <a:srgbClr val="3A3A46"/>
                </a:solidFill>
                <a:latin typeface="Arial"/>
              </a:rPr>
              <a:t/>
            </a:r>
            <a:r>
              <a:rPr sz="1350" b="1">
                <a:solidFill>
                  <a:srgbClr val="2B1F5E"/>
                </a:solidFill>
                <a:latin typeface="Arial"/>
              </a:rPr>
              <a:t>A career centre and 84 daily sessions</a:t>
            </a:r>
            <a:r>
              <a:rPr sz="1350">
                <a:solidFill>
                  <a:srgbClr val="3A3A46"/>
                </a:solidFill>
                <a:latin typeface="Arial"/>
              </a:rPr>
              <a:t> — CV and LinkedIn coach; 15 languages; offline after first load</a:t>
            </a:r>
          </a:p>
        </p:txBody>
      </p:sp>
      <p:sp>
        <p:nvSpPr>
          <p:cNvPr id="18" name="Rounded Rectangle 17"/>
          <p:cNvSpPr/>
          <p:nvPr/>
        </p:nvSpPr>
        <p:spPr>
          <a:xfrm>
            <a:off x="786384" y="5541264"/>
            <a:ext cx="10607040" cy="786384"/>
          </a:xfrm>
          <a:prstGeom prst="roundRect">
            <a:avLst>
              <a:gd name="adj" fmla="val 6000"/>
            </a:avLst>
          </a:prstGeom>
          <a:solidFill>
            <a:srgbClr val="FFF7E3"/>
          </a:solidFill>
          <a:ln w="12700">
            <a:solidFill>
              <a:srgbClr val="F0D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724144"/>
            <a:ext cx="10058400" cy="457200"/>
          </a:xfrm>
          <a:prstGeom prst="rect">
            <a:avLst/>
          </a:prstGeom>
          <a:noFill/>
        </p:spPr>
        <p:txBody>
          <a:bodyPr wrap="square" lIns="0" rIns="0" tIns="0" bIns="0">
            <a:spAutoFit/>
          </a:bodyPr>
          <a:lstStyle/>
          <a:p>
            <a:pPr algn="l">
              <a:lnSpc>
                <a:spcPct val="125000"/>
              </a:lnSpc>
              <a:spcAft>
                <a:spcPts val="0"/>
              </a:spcAft>
            </a:pPr>
            <a:r>
              <a:rPr sz="1350" b="1" i="0">
                <a:solidFill>
                  <a:srgbClr val="2B1F5E"/>
                </a:solidFill>
                <a:latin typeface="Arial"/>
              </a:rPr>
              <a:t>No per-seat fee, no platform fee, no contract for the pilot. Your learners install it from a browser — there is nothing for your IT to deploy.</a:t>
            </a:r>
          </a:p>
        </p:txBody>
      </p:sp>
      <p:sp>
        <p:nvSpPr>
          <p:cNvPr id="20" name="TextBox 19"/>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THE COMMERCIAL CASE</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Three things you cannot claim today</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34015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01  YOUR OFFER</a:t>
            </a:r>
          </a:p>
        </p:txBody>
      </p:sp>
      <p:sp>
        <p:nvSpPr>
          <p:cNvPr id="8" name="TextBox 7"/>
          <p:cNvSpPr txBox="1"/>
          <p:nvPr/>
        </p:nvSpPr>
        <p:spPr>
          <a:xfrm>
            <a:off x="1060704"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A differentiator, not a feature</a:t>
            </a:r>
          </a:p>
        </p:txBody>
      </p:sp>
      <p:sp>
        <p:nvSpPr>
          <p:cNvPr id="9" name="TextBox 8"/>
          <p:cNvSpPr txBox="1"/>
          <p:nvPr/>
        </p:nvSpPr>
        <p:spPr>
          <a:xfrm>
            <a:off x="1060704"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Every academy in the region teaches drawings. None of them can say their graduates rehearse the interview and the site conversation in English. That is a reason to choose you, and it is defensible.</a:t>
            </a:r>
          </a:p>
        </p:txBody>
      </p:sp>
      <p:sp>
        <p:nvSpPr>
          <p:cNvPr id="10" name="Rounded Rectangle 9"/>
          <p:cNvSpPr/>
          <p:nvPr/>
        </p:nvSpPr>
        <p:spPr>
          <a:xfrm>
            <a:off x="4389120" y="2395728"/>
            <a:ext cx="3401568" cy="301752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02  YOUR GRADUATES</a:t>
            </a:r>
          </a:p>
        </p:txBody>
      </p:sp>
      <p:sp>
        <p:nvSpPr>
          <p:cNvPr id="12" name="TextBox 11"/>
          <p:cNvSpPr txBox="1"/>
          <p:nvPr/>
        </p:nvSpPr>
        <p:spPr>
          <a:xfrm>
            <a:off x="4663440"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Placeable, not just qualified</a:t>
            </a:r>
          </a:p>
        </p:txBody>
      </p:sp>
      <p:sp>
        <p:nvSpPr>
          <p:cNvPr id="13" name="TextBox 12"/>
          <p:cNvSpPr txBox="1"/>
          <p:nvPr/>
        </p:nvSpPr>
        <p:spPr>
          <a:xfrm>
            <a:off x="4663440"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The certificate gets them shortlisted. The interview decides it. This is the only part of the journey nobody currently prepares them for.</a:t>
            </a:r>
          </a:p>
        </p:txBody>
      </p:sp>
      <p:sp>
        <p:nvSpPr>
          <p:cNvPr id="14" name="Rounded Rectangle 13"/>
          <p:cNvSpPr/>
          <p:nvPr/>
        </p:nvSpPr>
        <p:spPr>
          <a:xfrm>
            <a:off x="7991856" y="2395728"/>
            <a:ext cx="34015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2633472"/>
            <a:ext cx="283464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03  YOUR EVIDENCE</a:t>
            </a:r>
          </a:p>
        </p:txBody>
      </p:sp>
      <p:sp>
        <p:nvSpPr>
          <p:cNvPr id="16" name="TextBox 15"/>
          <p:cNvSpPr txBox="1"/>
          <p:nvPr/>
        </p:nvSpPr>
        <p:spPr>
          <a:xfrm>
            <a:off x="8266176" y="2980944"/>
            <a:ext cx="2834640" cy="731520"/>
          </a:xfrm>
          <a:prstGeom prst="rect">
            <a:avLst/>
          </a:prstGeom>
          <a:noFill/>
        </p:spPr>
        <p:txBody>
          <a:bodyPr wrap="square" lIns="0" rIns="0" tIns="0" bIns="0">
            <a:spAutoFit/>
          </a:bodyPr>
          <a:lstStyle/>
          <a:p>
            <a:pPr algn="l">
              <a:lnSpc>
                <a:spcPct val="112000"/>
              </a:lnSpc>
              <a:spcAft>
                <a:spcPts val="0"/>
              </a:spcAft>
            </a:pPr>
            <a:r>
              <a:rPr sz="1600" b="1" i="0">
                <a:solidFill>
                  <a:srgbClr val="2B1F5E"/>
                </a:solidFill>
                <a:latin typeface="Arial"/>
              </a:rPr>
              <a:t>Outcomes you can publish</a:t>
            </a:r>
          </a:p>
        </p:txBody>
      </p:sp>
      <p:sp>
        <p:nvSpPr>
          <p:cNvPr id="17" name="TextBox 16"/>
          <p:cNvSpPr txBox="1"/>
          <p:nvPr/>
        </p:nvSpPr>
        <p:spPr>
          <a:xfrm>
            <a:off x="8266176" y="3767328"/>
            <a:ext cx="2834640" cy="1463040"/>
          </a:xfrm>
          <a:prstGeom prst="rect">
            <a:avLst/>
          </a:prstGeom>
          <a:noFill/>
        </p:spPr>
        <p:txBody>
          <a:bodyPr wrap="square" lIns="0" rIns="0" tIns="0" bIns="0">
            <a:spAutoFit/>
          </a:bodyPr>
          <a:lstStyle/>
          <a:p>
            <a:pPr algn="l">
              <a:lnSpc>
                <a:spcPct val="132000"/>
              </a:lnSpc>
              <a:spcAft>
                <a:spcPts val="0"/>
              </a:spcAft>
            </a:pPr>
            <a:r>
              <a:rPr sz="1250" b="0" i="0">
                <a:solidFill>
                  <a:srgbClr val="3A3A46"/>
                </a:solidFill>
                <a:latin typeface="Arial"/>
              </a:rPr>
              <a:t>A report on what the cohort actually did — spoken answers, coverage, improvement — that you can show employers, funders and the next intake.</a:t>
            </a:r>
          </a:p>
        </p:txBody>
      </p:sp>
      <p:sp>
        <p:nvSpPr>
          <p:cNvPr id="18" name="TextBox 17"/>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BEING STRAIGHT ABOUT THE LIMIT</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Three of your programmes today</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10607040" cy="475488"/>
          </a:xfrm>
          <a:prstGeom prst="roundRect">
            <a:avLst>
              <a:gd name="adj" fmla="val 6000"/>
            </a:avLst>
          </a:prstGeom>
          <a:solidFill>
            <a:srgbClr val="2B1F5E"/>
          </a:solidFill>
          <a:ln w="12700">
            <a:solidFill>
              <a:srgbClr val="2B1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496312"/>
            <a:ext cx="4572000" cy="274320"/>
          </a:xfrm>
          <a:prstGeom prst="rect">
            <a:avLst/>
          </a:prstGeom>
          <a:noFill/>
        </p:spPr>
        <p:txBody>
          <a:bodyPr wrap="square" lIns="0" rIns="0" tIns="0" bIns="0">
            <a:spAutoFit/>
          </a:bodyPr>
          <a:lstStyle/>
          <a:p>
            <a:pPr algn="l">
              <a:spcAft>
                <a:spcPts val="0"/>
              </a:spcAft>
            </a:pPr>
            <a:r>
              <a:rPr sz="1100" b="1" i="0">
                <a:solidFill>
                  <a:srgbClr val="FFFFFF"/>
                </a:solidFill>
                <a:latin typeface="Arial"/>
              </a:rPr>
              <a:t>COVERED NOW</a:t>
            </a:r>
          </a:p>
        </p:txBody>
      </p:sp>
      <p:sp>
        <p:nvSpPr>
          <p:cNvPr id="8" name="TextBox 7"/>
          <p:cNvSpPr txBox="1"/>
          <p:nvPr/>
        </p:nvSpPr>
        <p:spPr>
          <a:xfrm>
            <a:off x="5724144" y="2496312"/>
            <a:ext cx="5486400" cy="274320"/>
          </a:xfrm>
          <a:prstGeom prst="rect">
            <a:avLst/>
          </a:prstGeom>
          <a:noFill/>
        </p:spPr>
        <p:txBody>
          <a:bodyPr wrap="square" lIns="0" rIns="0" tIns="0" bIns="0">
            <a:spAutoFit/>
          </a:bodyPr>
          <a:lstStyle/>
          <a:p>
            <a:pPr algn="l">
              <a:spcAft>
                <a:spcPts val="0"/>
              </a:spcAft>
            </a:pPr>
            <a:r>
              <a:rPr sz="1100" b="1" i="0">
                <a:solidFill>
                  <a:srgbClr val="FFFFFF"/>
                </a:solidFill>
                <a:latin typeface="Arial"/>
              </a:rPr>
              <a:t>WHAT THE LEARNER REHEARSES</a:t>
            </a:r>
          </a:p>
        </p:txBody>
      </p:sp>
      <p:sp>
        <p:nvSpPr>
          <p:cNvPr id="9" name="Rounded Rectangle 8"/>
          <p:cNvSpPr/>
          <p:nvPr/>
        </p:nvSpPr>
        <p:spPr>
          <a:xfrm>
            <a:off x="786384" y="2852928"/>
            <a:ext cx="10607040" cy="658368"/>
          </a:xfrm>
          <a:prstGeom prst="roundRect">
            <a:avLst>
              <a:gd name="adj" fmla="val 6000"/>
            </a:avLst>
          </a:prstGeom>
          <a:solidFill>
            <a:srgbClr val="FFFFFF"/>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3035808"/>
            <a:ext cx="4572000" cy="365760"/>
          </a:xfrm>
          <a:prstGeom prst="rect">
            <a:avLst/>
          </a:prstGeom>
          <a:noFill/>
        </p:spPr>
        <p:txBody>
          <a:bodyPr wrap="square" lIns="0" rIns="0" tIns="0" bIns="0">
            <a:spAutoFit/>
          </a:bodyPr>
          <a:lstStyle/>
          <a:p>
            <a:pPr algn="l">
              <a:lnSpc>
                <a:spcPct val="115000"/>
              </a:lnSpc>
              <a:spcAft>
                <a:spcPts val="0"/>
              </a:spcAft>
            </a:pPr>
            <a:r>
              <a:rPr sz="1350" b="1" i="0">
                <a:solidFill>
                  <a:srgbClr val="2B1F5E"/>
                </a:solidFill>
                <a:latin typeface="Arial"/>
              </a:rPr>
              <a:t>Plans in Boiler Making</a:t>
            </a:r>
          </a:p>
        </p:txBody>
      </p:sp>
      <p:sp>
        <p:nvSpPr>
          <p:cNvPr id="11" name="TextBox 10"/>
          <p:cNvSpPr txBox="1"/>
          <p:nvPr/>
        </p:nvSpPr>
        <p:spPr>
          <a:xfrm>
            <a:off x="5724144" y="3035808"/>
            <a:ext cx="5486400" cy="365760"/>
          </a:xfrm>
          <a:prstGeom prst="rect">
            <a:avLst/>
          </a:prstGeom>
          <a:noFill/>
        </p:spPr>
        <p:txBody>
          <a:bodyPr wrap="square" lIns="0" rIns="0" tIns="0" bIns="0">
            <a:spAutoFit/>
          </a:bodyPr>
          <a:lstStyle/>
          <a:p>
            <a:pPr algn="l">
              <a:lnSpc>
                <a:spcPct val="115000"/>
              </a:lnSpc>
              <a:spcAft>
                <a:spcPts val="0"/>
              </a:spcAft>
            </a:pPr>
            <a:r>
              <a:rPr sz="1350" b="0" i="0">
                <a:solidFill>
                  <a:srgbClr val="3A3A46"/>
                </a:solidFill>
                <a:latin typeface="Arial"/>
              </a:rPr>
              <a:t>Briefing a crew from the drawing; clarifying with the fabricator</a:t>
            </a:r>
          </a:p>
        </p:txBody>
      </p:sp>
      <p:sp>
        <p:nvSpPr>
          <p:cNvPr id="12" name="Rounded Rectangle 11"/>
          <p:cNvSpPr/>
          <p:nvPr/>
        </p:nvSpPr>
        <p:spPr>
          <a:xfrm>
            <a:off x="786384" y="3511296"/>
            <a:ext cx="10607040" cy="658368"/>
          </a:xfrm>
          <a:prstGeom prst="roundRect">
            <a:avLst>
              <a:gd name="adj" fmla="val 6000"/>
            </a:avLst>
          </a:prstGeom>
          <a:solidFill>
            <a:srgbClr val="F6F5FD"/>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3694176"/>
            <a:ext cx="4572000" cy="365760"/>
          </a:xfrm>
          <a:prstGeom prst="rect">
            <a:avLst/>
          </a:prstGeom>
          <a:noFill/>
        </p:spPr>
        <p:txBody>
          <a:bodyPr wrap="square" lIns="0" rIns="0" tIns="0" bIns="0">
            <a:spAutoFit/>
          </a:bodyPr>
          <a:lstStyle/>
          <a:p>
            <a:pPr algn="l">
              <a:lnSpc>
                <a:spcPct val="115000"/>
              </a:lnSpc>
              <a:spcAft>
                <a:spcPts val="0"/>
              </a:spcAft>
            </a:pPr>
            <a:r>
              <a:rPr sz="1350" b="1" i="0">
                <a:solidFill>
                  <a:srgbClr val="2B1F5E"/>
                </a:solidFill>
                <a:latin typeface="Arial"/>
              </a:rPr>
              <a:t>Industrial Piping Supervisor</a:t>
            </a:r>
          </a:p>
        </p:txBody>
      </p:sp>
      <p:sp>
        <p:nvSpPr>
          <p:cNvPr id="14" name="TextBox 13"/>
          <p:cNvSpPr txBox="1"/>
          <p:nvPr/>
        </p:nvSpPr>
        <p:spPr>
          <a:xfrm>
            <a:off x="5724144" y="3694176"/>
            <a:ext cx="5486400" cy="365760"/>
          </a:xfrm>
          <a:prstGeom prst="rect">
            <a:avLst/>
          </a:prstGeom>
          <a:noFill/>
        </p:spPr>
        <p:txBody>
          <a:bodyPr wrap="square" lIns="0" rIns="0" tIns="0" bIns="0">
            <a:spAutoFit/>
          </a:bodyPr>
          <a:lstStyle/>
          <a:p>
            <a:pPr algn="l">
              <a:lnSpc>
                <a:spcPct val="115000"/>
              </a:lnSpc>
              <a:spcAft>
                <a:spcPts val="0"/>
              </a:spcAft>
            </a:pPr>
            <a:r>
              <a:rPr sz="1350" b="0" i="0">
                <a:solidFill>
                  <a:srgbClr val="3A3A46"/>
                </a:solidFill>
                <a:latin typeface="Arial"/>
              </a:rPr>
              <a:t>Walking a contractor through an isometric</a:t>
            </a:r>
          </a:p>
        </p:txBody>
      </p:sp>
      <p:sp>
        <p:nvSpPr>
          <p:cNvPr id="15" name="Rounded Rectangle 14"/>
          <p:cNvSpPr/>
          <p:nvPr/>
        </p:nvSpPr>
        <p:spPr>
          <a:xfrm>
            <a:off x="786384" y="4169664"/>
            <a:ext cx="10607040" cy="658368"/>
          </a:xfrm>
          <a:prstGeom prst="roundRect">
            <a:avLst>
              <a:gd name="adj" fmla="val 6000"/>
            </a:avLst>
          </a:prstGeom>
          <a:solidFill>
            <a:srgbClr val="FFFFFF"/>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352544"/>
            <a:ext cx="4572000" cy="365760"/>
          </a:xfrm>
          <a:prstGeom prst="rect">
            <a:avLst/>
          </a:prstGeom>
          <a:noFill/>
        </p:spPr>
        <p:txBody>
          <a:bodyPr wrap="square" lIns="0" rIns="0" tIns="0" bIns="0">
            <a:spAutoFit/>
          </a:bodyPr>
          <a:lstStyle/>
          <a:p>
            <a:pPr algn="l">
              <a:lnSpc>
                <a:spcPct val="115000"/>
              </a:lnSpc>
              <a:spcAft>
                <a:spcPts val="0"/>
              </a:spcAft>
            </a:pPr>
            <a:r>
              <a:rPr sz="1350" b="1" i="0">
                <a:solidFill>
                  <a:srgbClr val="2B1F5E"/>
                </a:solidFill>
                <a:latin typeface="Arial"/>
              </a:rPr>
              <a:t>Welding Production Supervision</a:t>
            </a:r>
          </a:p>
        </p:txBody>
      </p:sp>
      <p:sp>
        <p:nvSpPr>
          <p:cNvPr id="17" name="TextBox 16"/>
          <p:cNvSpPr txBox="1"/>
          <p:nvPr/>
        </p:nvSpPr>
        <p:spPr>
          <a:xfrm>
            <a:off x="5724144" y="4352544"/>
            <a:ext cx="5486400" cy="365760"/>
          </a:xfrm>
          <a:prstGeom prst="rect">
            <a:avLst/>
          </a:prstGeom>
          <a:noFill/>
        </p:spPr>
        <p:txBody>
          <a:bodyPr wrap="square" lIns="0" rIns="0" tIns="0" bIns="0">
            <a:spAutoFit/>
          </a:bodyPr>
          <a:lstStyle/>
          <a:p>
            <a:pPr algn="l">
              <a:lnSpc>
                <a:spcPct val="115000"/>
              </a:lnSpc>
              <a:spcAft>
                <a:spcPts val="0"/>
              </a:spcAft>
            </a:pPr>
            <a:r>
              <a:rPr sz="1350" b="0" i="0">
                <a:solidFill>
                  <a:srgbClr val="3A3A46"/>
                </a:solidFill>
                <a:latin typeface="Arial"/>
              </a:rPr>
              <a:t>A weld-quality concern with a QA inspector; stop-work</a:t>
            </a:r>
          </a:p>
        </p:txBody>
      </p:sp>
      <p:sp>
        <p:nvSpPr>
          <p:cNvPr id="18" name="Rounded Rectangle 17"/>
          <p:cNvSpPr/>
          <p:nvPr/>
        </p:nvSpPr>
        <p:spPr>
          <a:xfrm>
            <a:off x="786384" y="5157216"/>
            <a:ext cx="10607040" cy="1051560"/>
          </a:xfrm>
          <a:prstGeom prst="roundRect">
            <a:avLst>
              <a:gd name="adj" fmla="val 6000"/>
            </a:avLst>
          </a:prstGeom>
          <a:solidFill>
            <a:srgbClr val="FFF7E3"/>
          </a:solidFill>
          <a:ln w="12700">
            <a:solidFill>
              <a:srgbClr val="F0D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40096"/>
            <a:ext cx="10058400" cy="777240"/>
          </a:xfrm>
          <a:prstGeom prst="rect">
            <a:avLst/>
          </a:prstGeom>
          <a:noFill/>
        </p:spPr>
        <p:txBody>
          <a:bodyPr wrap="square" lIns="0" rIns="0" tIns="0" bIns="0">
            <a:spAutoFit/>
          </a:bodyPr>
          <a:lstStyle/>
          <a:p>
            <a:pPr algn="l">
              <a:spcAft>
                <a:spcPts val="400"/>
              </a:spcAft>
            </a:pPr>
            <a:r>
              <a:rPr sz="1100" b="1" i="0">
                <a:solidFill>
                  <a:srgbClr val="8A630B"/>
                </a:solidFill>
                <a:latin typeface="Arial"/>
              </a:rPr>
              <a:t>NOT BUILT YET</a:t>
            </a:r>
          </a:p>
          <a:p>
            <a:pPr algn="l">
              <a:lnSpc>
                <a:spcPct val="125000"/>
              </a:lnSpc>
              <a:spcAft>
                <a:spcPts val="0"/>
              </a:spcAft>
            </a:pPr>
            <a:r>
              <a:rPr sz="1400" b="1" i="0">
                <a:solidFill>
                  <a:srgbClr val="2B1F5E"/>
                </a:solidFill>
                <a:latin typeface="Arial"/>
              </a:rPr>
              <a:t>Electrical, civil, instrumentation, renewable energy, metal structures, storage tanks. The pilot decides which is built next — and you choose it.</a:t>
            </a:r>
          </a:p>
        </p:txBody>
      </p:sp>
      <p:sp>
        <p:nvSpPr>
          <p:cNvPr id="20" name="TextBox 19"/>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371600"/>
            <a:ext cx="10058400" cy="1097280"/>
          </a:xfrm>
          <a:prstGeom prst="rect">
            <a:avLst/>
          </a:prstGeom>
          <a:noFill/>
        </p:spPr>
        <p:txBody>
          <a:bodyPr wrap="square" lIns="0" rIns="0" tIns="0" bIns="0">
            <a:spAutoFit/>
          </a:bodyPr>
          <a:lstStyle/>
          <a:p>
            <a:pPr algn="l">
              <a:spcAft>
                <a:spcPts val="1400"/>
              </a:spcAft>
            </a:pPr>
            <a:r>
              <a:rPr sz="1300" b="1" i="0">
                <a:solidFill>
                  <a:srgbClr val="A798FF"/>
                </a:solidFill>
                <a:latin typeface="Arial"/>
              </a:rPr>
              <a:t>THE DOWNSIDE, HONESTLY</a:t>
            </a:r>
          </a:p>
          <a:p>
            <a:pPr algn="l">
              <a:lnSpc>
                <a:spcPct val="105000"/>
              </a:lnSpc>
              <a:spcAft>
                <a:spcPts val="0"/>
              </a:spcAft>
            </a:pPr>
            <a:r>
              <a:rPr sz="3800" b="1" i="0">
                <a:solidFill>
                  <a:srgbClr val="FFFFFF"/>
                </a:solidFill>
                <a:latin typeface="Arial"/>
              </a:rPr>
              <a:t>What this costs you if it fails</a:t>
            </a:r>
          </a:p>
        </p:txBody>
      </p:sp>
      <p:sp>
        <p:nvSpPr>
          <p:cNvPr id="4" name="Rounded Rectangle 3"/>
          <p:cNvSpPr/>
          <p:nvPr/>
        </p:nvSpPr>
        <p:spPr>
          <a:xfrm>
            <a:off x="786384" y="301752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3218688"/>
            <a:ext cx="2432304" cy="640080"/>
          </a:xfrm>
          <a:prstGeom prst="rect">
            <a:avLst/>
          </a:prstGeom>
          <a:noFill/>
        </p:spPr>
        <p:txBody>
          <a:bodyPr wrap="square" lIns="0" rIns="0" tIns="0" bIns="0">
            <a:spAutoFit/>
          </a:bodyPr>
          <a:lstStyle/>
          <a:p>
            <a:pPr algn="ctr">
              <a:spcAft>
                <a:spcPts val="200"/>
              </a:spcAft>
            </a:pPr>
            <a:r>
              <a:rPr sz="3000" b="1" i="0">
                <a:solidFill>
                  <a:srgbClr val="A798FF"/>
                </a:solidFill>
                <a:latin typeface="Arial"/>
              </a:rPr>
              <a:t>$0</a:t>
            </a:r>
          </a:p>
        </p:txBody>
      </p:sp>
      <p:sp>
        <p:nvSpPr>
          <p:cNvPr id="6" name="TextBox 5"/>
          <p:cNvSpPr txBox="1"/>
          <p:nvPr/>
        </p:nvSpPr>
        <p:spPr>
          <a:xfrm>
            <a:off x="786384" y="3877056"/>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MONEY</a:t>
            </a:r>
          </a:p>
        </p:txBody>
      </p:sp>
      <p:sp>
        <p:nvSpPr>
          <p:cNvPr id="7" name="Rounded Rectangle 6"/>
          <p:cNvSpPr/>
          <p:nvPr/>
        </p:nvSpPr>
        <p:spPr>
          <a:xfrm>
            <a:off x="3493008" y="301752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3008" y="3218688"/>
            <a:ext cx="2432304" cy="640080"/>
          </a:xfrm>
          <a:prstGeom prst="rect">
            <a:avLst/>
          </a:prstGeom>
          <a:noFill/>
        </p:spPr>
        <p:txBody>
          <a:bodyPr wrap="square" lIns="0" rIns="0" tIns="0" bIns="0">
            <a:spAutoFit/>
          </a:bodyPr>
          <a:lstStyle/>
          <a:p>
            <a:pPr algn="ctr">
              <a:spcAft>
                <a:spcPts val="200"/>
              </a:spcAft>
            </a:pPr>
            <a:r>
              <a:rPr sz="3000" b="1" i="0">
                <a:solidFill>
                  <a:srgbClr val="A798FF"/>
                </a:solidFill>
                <a:latin typeface="Arial"/>
              </a:rPr>
              <a:t>0</a:t>
            </a:r>
          </a:p>
        </p:txBody>
      </p:sp>
      <p:sp>
        <p:nvSpPr>
          <p:cNvPr id="9" name="TextBox 8"/>
          <p:cNvSpPr txBox="1"/>
          <p:nvPr/>
        </p:nvSpPr>
        <p:spPr>
          <a:xfrm>
            <a:off x="3493008" y="3877056"/>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IT WORK</a:t>
            </a:r>
          </a:p>
        </p:txBody>
      </p:sp>
      <p:sp>
        <p:nvSpPr>
          <p:cNvPr id="10" name="Rounded Rectangle 9"/>
          <p:cNvSpPr/>
          <p:nvPr/>
        </p:nvSpPr>
        <p:spPr>
          <a:xfrm>
            <a:off x="6199632" y="301752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3218688"/>
            <a:ext cx="2432304" cy="640080"/>
          </a:xfrm>
          <a:prstGeom prst="rect">
            <a:avLst/>
          </a:prstGeom>
          <a:noFill/>
        </p:spPr>
        <p:txBody>
          <a:bodyPr wrap="square" lIns="0" rIns="0" tIns="0" bIns="0">
            <a:spAutoFit/>
          </a:bodyPr>
          <a:lstStyle/>
          <a:p>
            <a:pPr algn="ctr">
              <a:spcAft>
                <a:spcPts val="200"/>
              </a:spcAft>
            </a:pPr>
            <a:r>
              <a:rPr sz="3000" b="1" i="0">
                <a:solidFill>
                  <a:srgbClr val="A798FF"/>
                </a:solidFill>
                <a:latin typeface="Arial"/>
              </a:rPr>
              <a:t>20 min</a:t>
            </a:r>
          </a:p>
        </p:txBody>
      </p:sp>
      <p:sp>
        <p:nvSpPr>
          <p:cNvPr id="12" name="TextBox 11"/>
          <p:cNvSpPr txBox="1"/>
          <p:nvPr/>
        </p:nvSpPr>
        <p:spPr>
          <a:xfrm>
            <a:off x="6199632" y="3877056"/>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OF YOUR TIME</a:t>
            </a:r>
          </a:p>
        </p:txBody>
      </p:sp>
      <p:sp>
        <p:nvSpPr>
          <p:cNvPr id="13" name="Rounded Rectangle 12"/>
          <p:cNvSpPr/>
          <p:nvPr/>
        </p:nvSpPr>
        <p:spPr>
          <a:xfrm>
            <a:off x="8906256" y="301752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06256" y="3218688"/>
            <a:ext cx="2432304" cy="640080"/>
          </a:xfrm>
          <a:prstGeom prst="rect">
            <a:avLst/>
          </a:prstGeom>
          <a:noFill/>
        </p:spPr>
        <p:txBody>
          <a:bodyPr wrap="square" lIns="0" rIns="0" tIns="0" bIns="0">
            <a:spAutoFit/>
          </a:bodyPr>
          <a:lstStyle/>
          <a:p>
            <a:pPr algn="ctr">
              <a:spcAft>
                <a:spcPts val="200"/>
              </a:spcAft>
            </a:pPr>
            <a:r>
              <a:rPr sz="3000" b="1" i="0">
                <a:solidFill>
                  <a:srgbClr val="A798FF"/>
                </a:solidFill>
                <a:latin typeface="Arial"/>
              </a:rPr>
              <a:t>Any day</a:t>
            </a:r>
          </a:p>
        </p:txBody>
      </p:sp>
      <p:sp>
        <p:nvSpPr>
          <p:cNvPr id="15" name="TextBox 14"/>
          <p:cNvSpPr txBox="1"/>
          <p:nvPr/>
        </p:nvSpPr>
        <p:spPr>
          <a:xfrm>
            <a:off x="8906256" y="3877056"/>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YOU CAN STOP</a:t>
            </a:r>
          </a:p>
        </p:txBody>
      </p:sp>
      <p:sp>
        <p:nvSpPr>
          <p:cNvPr id="16" name="TextBox 15"/>
          <p:cNvSpPr txBox="1"/>
          <p:nvPr/>
        </p:nvSpPr>
        <p:spPr>
          <a:xfrm>
            <a:off x="786384" y="4800600"/>
            <a:ext cx="10607040" cy="1097280"/>
          </a:xfrm>
          <a:prstGeom prst="rect">
            <a:avLst/>
          </a:prstGeom>
          <a:noFill/>
        </p:spPr>
        <p:txBody>
          <a:bodyPr wrap="square" lIns="0" rIns="0" tIns="0" bIns="0">
            <a:spAutoFit/>
          </a:bodyPr>
          <a:lstStyle/>
          <a:p>
            <a:pPr algn="l">
              <a:lnSpc>
                <a:spcPct val="135000"/>
              </a:lnSpc>
              <a:spcAft>
                <a:spcPts val="0"/>
              </a:spcAft>
            </a:pPr>
            <a:r>
              <a:rPr sz="1600" b="0" i="0">
                <a:solidFill>
                  <a:srgbClr val="CBC3F5"/>
                </a:solidFill>
                <a:latin typeface="Arial"/>
              </a:rPr>
              <a:t>Your technical teaching, your assessments and your certification are untouched. Recordings never leave the learner's phone, nothing is published without your written approval — and no learner is put in front of English they cannot yet follow.</a:t>
            </a:r>
          </a:p>
        </p:txBody>
      </p:sp>
      <p:sp>
        <p:nvSpPr>
          <p:cNvPr id="17" name="TextBox 16"/>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CBC3F5"/>
                </a:solidFill>
                <a:latin typeface="Arial"/>
              </a:rPr>
              <a:t>app.lomonec.com  ·  contact@lomonec.com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THE EXCHANGE</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What we ask, and what we bring</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5120640" cy="324612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578608"/>
            <a:ext cx="457200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WHAT WE ASK OF YOU</a:t>
            </a:r>
          </a:p>
        </p:txBody>
      </p:sp>
      <p:sp>
        <p:nvSpPr>
          <p:cNvPr id="8" name="TextBox 7"/>
          <p:cNvSpPr txBox="1"/>
          <p:nvPr/>
        </p:nvSpPr>
        <p:spPr>
          <a:xfrm>
            <a:off x="1078992" y="297180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One cohort — </a:t>
            </a:r>
            <a:r>
              <a:rPr sz="1300">
                <a:solidFill>
                  <a:srgbClr val="3A3A46"/>
                </a:solidFill>
                <a:latin typeface="Arial"/>
              </a:rPr>
              <a:t>20–30 learners from three programmes</a:t>
            </a:r>
          </a:p>
        </p:txBody>
      </p:sp>
      <p:sp>
        <p:nvSpPr>
          <p:cNvPr id="9" name="TextBox 8"/>
          <p:cNvSpPr txBox="1"/>
          <p:nvPr/>
        </p:nvSpPr>
        <p:spPr>
          <a:xfrm>
            <a:off x="1078992" y="361188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Twenty minutes — </a:t>
            </a:r>
            <a:r>
              <a:rPr sz="1300">
                <a:solidFill>
                  <a:srgbClr val="3A3A46"/>
                </a:solidFill>
                <a:latin typeface="Arial"/>
              </a:rPr>
              <a:t>one induction slot, once</a:t>
            </a:r>
          </a:p>
        </p:txBody>
      </p:sp>
      <p:sp>
        <p:nvSpPr>
          <p:cNvPr id="10" name="TextBox 9"/>
          <p:cNvSpPr txBox="1"/>
          <p:nvPr/>
        </p:nvSpPr>
        <p:spPr>
          <a:xfrm>
            <a:off x="1078992" y="425196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One instructor — </a:t>
            </a:r>
            <a:r>
              <a:rPr sz="1300">
                <a:solidFill>
                  <a:srgbClr val="3A3A46"/>
                </a:solidFill>
                <a:latin typeface="Arial"/>
              </a:rPr>
              <a:t>10 minutes in week 2 and week 4</a:t>
            </a:r>
          </a:p>
        </p:txBody>
      </p:sp>
      <p:sp>
        <p:nvSpPr>
          <p:cNvPr id="11" name="TextBox 10"/>
          <p:cNvSpPr txBox="1"/>
          <p:nvPr/>
        </p:nvSpPr>
        <p:spPr>
          <a:xfrm>
            <a:off x="1078992" y="489204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Permission — </a:t>
            </a:r>
            <a:r>
              <a:rPr sz="1300">
                <a:solidFill>
                  <a:srgbClr val="3A3A46"/>
                </a:solidFill>
                <a:latin typeface="Arial"/>
              </a:rPr>
              <a:t>to write the result up jointly</a:t>
            </a:r>
          </a:p>
        </p:txBody>
      </p:sp>
      <p:sp>
        <p:nvSpPr>
          <p:cNvPr id="12" name="Rounded Rectangle 11"/>
          <p:cNvSpPr/>
          <p:nvPr/>
        </p:nvSpPr>
        <p:spPr>
          <a:xfrm>
            <a:off x="6272784" y="2377440"/>
            <a:ext cx="5120640" cy="32461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578608"/>
            <a:ext cx="457200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WHAT WE BRING</a:t>
            </a:r>
          </a:p>
        </p:txBody>
      </p:sp>
      <p:sp>
        <p:nvSpPr>
          <p:cNvPr id="14" name="TextBox 13"/>
          <p:cNvSpPr txBox="1"/>
          <p:nvPr/>
        </p:nvSpPr>
        <p:spPr>
          <a:xfrm>
            <a:off x="6565392" y="297180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Full access — </a:t>
            </a:r>
            <a:r>
              <a:rPr sz="1300">
                <a:solidFill>
                  <a:srgbClr val="3A3A46"/>
                </a:solidFill>
                <a:latin typeface="Arial"/>
              </a:rPr>
              <a:t>every learner, free, pilot plus 30 days</a:t>
            </a:r>
          </a:p>
        </p:txBody>
      </p:sp>
      <p:sp>
        <p:nvSpPr>
          <p:cNvPr id="15" name="TextBox 14"/>
          <p:cNvSpPr txBox="1"/>
          <p:nvPr/>
        </p:nvSpPr>
        <p:spPr>
          <a:xfrm>
            <a:off x="6565392" y="361188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Onboarding — </a:t>
            </a:r>
            <a:r>
              <a:rPr sz="1300">
                <a:solidFill>
                  <a:srgbClr val="3A3A46"/>
                </a:solidFill>
                <a:latin typeface="Arial"/>
              </a:rPr>
              <a:t>guide in French and English, we run the induction</a:t>
            </a:r>
          </a:p>
        </p:txBody>
      </p:sp>
      <p:sp>
        <p:nvSpPr>
          <p:cNvPr id="16" name="TextBox 15"/>
          <p:cNvSpPr txBox="1"/>
          <p:nvPr/>
        </p:nvSpPr>
        <p:spPr>
          <a:xfrm>
            <a:off x="6565392" y="425196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All support — </a:t>
            </a:r>
            <a:r>
              <a:rPr sz="1300">
                <a:solidFill>
                  <a:srgbClr val="3A3A46"/>
                </a:solidFill>
                <a:latin typeface="Arial"/>
              </a:rPr>
              <a:t>learner questions come to us, never to your staff</a:t>
            </a:r>
          </a:p>
        </p:txBody>
      </p:sp>
      <p:sp>
        <p:nvSpPr>
          <p:cNvPr id="17" name="TextBox 16"/>
          <p:cNvSpPr txBox="1"/>
          <p:nvPr/>
        </p:nvSpPr>
        <p:spPr>
          <a:xfrm>
            <a:off x="6565392" y="489204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The report — </a:t>
            </a:r>
            <a:r>
              <a:rPr sz="1300">
                <a:solidFill>
                  <a:srgbClr val="3A3A46"/>
                </a:solidFill>
                <a:latin typeface="Arial"/>
              </a:rPr>
              <a:t>yours to show, with the data behind it</a:t>
            </a:r>
          </a:p>
        </p:txBody>
      </p:sp>
      <p:sp>
        <p:nvSpPr>
          <p:cNvPr id="18" name="TextBox 17"/>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IF IT WORKS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Four ways this can grow — you choose</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5120640" cy="157276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633472"/>
            <a:ext cx="4572000" cy="1097280"/>
          </a:xfrm>
          <a:prstGeom prst="rect">
            <a:avLst/>
          </a:prstGeom>
          <a:noFill/>
        </p:spPr>
        <p:txBody>
          <a:bodyPr wrap="square" lIns="0" rIns="0" tIns="0" bIns="0">
            <a:spAutoFit/>
          </a:bodyPr>
          <a:lstStyle/>
          <a:p>
            <a:pPr algn="l">
              <a:lnSpc>
                <a:spcPct val="110000"/>
              </a:lnSpc>
              <a:spcAft>
                <a:spcPts val="500"/>
              </a:spcAft>
            </a:pPr>
            <a:r>
              <a:rPr sz="1600" b="1" i="0">
                <a:solidFill>
                  <a:srgbClr val="2B1F5E"/>
                </a:solidFill>
                <a:latin typeface="Arial"/>
              </a:rPr>
              <a:t>Student access</a:t>
            </a:r>
          </a:p>
          <a:p>
            <a:pPr algn="l">
              <a:lnSpc>
                <a:spcPct val="132000"/>
              </a:lnSpc>
              <a:spcAft>
                <a:spcPts val="0"/>
              </a:spcAft>
            </a:pPr>
            <a:r>
              <a:rPr sz="1250" b="0" i="0">
                <a:solidFill>
                  <a:srgbClr val="3A3A46"/>
                </a:solidFill>
                <a:latin typeface="Arial"/>
              </a:rPr>
              <a:t>Individual learner licences attached to your technical programmes, priced so they sit inside an existing course fee.</a:t>
            </a:r>
          </a:p>
        </p:txBody>
      </p:sp>
      <p:sp>
        <p:nvSpPr>
          <p:cNvPr id="8" name="Rounded Rectangle 7"/>
          <p:cNvSpPr/>
          <p:nvPr/>
        </p:nvSpPr>
        <p:spPr>
          <a:xfrm>
            <a:off x="6272784" y="2395728"/>
            <a:ext cx="5120640" cy="157276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633472"/>
            <a:ext cx="4572000" cy="1097280"/>
          </a:xfrm>
          <a:prstGeom prst="rect">
            <a:avLst/>
          </a:prstGeom>
          <a:noFill/>
        </p:spPr>
        <p:txBody>
          <a:bodyPr wrap="square" lIns="0" rIns="0" tIns="0" bIns="0">
            <a:spAutoFit/>
          </a:bodyPr>
          <a:lstStyle/>
          <a:p>
            <a:pPr algn="l">
              <a:lnSpc>
                <a:spcPct val="110000"/>
              </a:lnSpc>
              <a:spcAft>
                <a:spcPts val="500"/>
              </a:spcAft>
            </a:pPr>
            <a:r>
              <a:rPr sz="1600" b="1" i="0">
                <a:solidFill>
                  <a:srgbClr val="2B1F5E"/>
                </a:solidFill>
                <a:latin typeface="Arial"/>
              </a:rPr>
              <a:t>Cohort licensing</a:t>
            </a:r>
          </a:p>
          <a:p>
            <a:pPr algn="l">
              <a:lnSpc>
                <a:spcPct val="132000"/>
              </a:lnSpc>
              <a:spcAft>
                <a:spcPts val="0"/>
              </a:spcAft>
            </a:pPr>
            <a:r>
              <a:rPr sz="1250" b="0" i="0">
                <a:solidFill>
                  <a:srgbClr val="3A3A46"/>
                </a:solidFill>
                <a:latin typeface="Arial"/>
              </a:rPr>
              <a:t>Access for a class, an intake or a centre, with the cohort reporting you would have seen in the pilot.</a:t>
            </a:r>
          </a:p>
        </p:txBody>
      </p:sp>
      <p:sp>
        <p:nvSpPr>
          <p:cNvPr id="10" name="Rounded Rectangle 9"/>
          <p:cNvSpPr/>
          <p:nvPr/>
        </p:nvSpPr>
        <p:spPr>
          <a:xfrm>
            <a:off x="786384" y="4096512"/>
            <a:ext cx="5120640" cy="157276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4334256"/>
            <a:ext cx="4572000" cy="1097280"/>
          </a:xfrm>
          <a:prstGeom prst="rect">
            <a:avLst/>
          </a:prstGeom>
          <a:noFill/>
        </p:spPr>
        <p:txBody>
          <a:bodyPr wrap="square" lIns="0" rIns="0" tIns="0" bIns="0">
            <a:spAutoFit/>
          </a:bodyPr>
          <a:lstStyle/>
          <a:p>
            <a:pPr algn="l">
              <a:lnSpc>
                <a:spcPct val="110000"/>
              </a:lnSpc>
              <a:spcAft>
                <a:spcPts val="500"/>
              </a:spcAft>
            </a:pPr>
            <a:r>
              <a:rPr sz="1600" b="1" i="0">
                <a:solidFill>
                  <a:srgbClr val="2B1F5E"/>
                </a:solidFill>
                <a:latin typeface="Arial"/>
              </a:rPr>
              <a:t>Bundled programmes</a:t>
            </a:r>
          </a:p>
          <a:p>
            <a:pPr algn="l">
              <a:lnSpc>
                <a:spcPct val="132000"/>
              </a:lnSpc>
              <a:spcAft>
                <a:spcPts val="0"/>
              </a:spcAft>
            </a:pPr>
            <a:r>
              <a:rPr sz="1250" b="0" i="0">
                <a:solidFill>
                  <a:srgbClr val="3A3A46"/>
                </a:solidFill>
                <a:latin typeface="Arial"/>
              </a:rPr>
              <a:t>BE Mastery included as the communication layer of a named Petrocertif course — part of what the learner buys from you.</a:t>
            </a:r>
          </a:p>
        </p:txBody>
      </p:sp>
      <p:sp>
        <p:nvSpPr>
          <p:cNvPr id="12" name="Rounded Rectangle 11"/>
          <p:cNvSpPr/>
          <p:nvPr/>
        </p:nvSpPr>
        <p:spPr>
          <a:xfrm>
            <a:off x="6272784" y="4096512"/>
            <a:ext cx="5120640" cy="157276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4334256"/>
            <a:ext cx="4572000" cy="1097280"/>
          </a:xfrm>
          <a:prstGeom prst="rect">
            <a:avLst/>
          </a:prstGeom>
          <a:noFill/>
        </p:spPr>
        <p:txBody>
          <a:bodyPr wrap="square" lIns="0" rIns="0" tIns="0" bIns="0">
            <a:spAutoFit/>
          </a:bodyPr>
          <a:lstStyle/>
          <a:p>
            <a:pPr algn="l">
              <a:lnSpc>
                <a:spcPct val="110000"/>
              </a:lnSpc>
              <a:spcAft>
                <a:spcPts val="500"/>
              </a:spcAft>
            </a:pPr>
            <a:r>
              <a:rPr sz="1600" b="1" i="0">
                <a:solidFill>
                  <a:srgbClr val="2B1F5E"/>
                </a:solidFill>
                <a:latin typeface="Arial"/>
              </a:rPr>
              <a:t>Custom pathways</a:t>
            </a:r>
          </a:p>
          <a:p>
            <a:pPr algn="l">
              <a:lnSpc>
                <a:spcPct val="132000"/>
              </a:lnSpc>
              <a:spcAft>
                <a:spcPts val="0"/>
              </a:spcAft>
            </a:pPr>
            <a:r>
              <a:rPr sz="1250" b="0" i="0">
                <a:solidFill>
                  <a:srgbClr val="3A3A46"/>
                </a:solidFill>
                <a:latin typeface="Arial"/>
              </a:rPr>
              <a:t>A discipline built to your curriculum: your scenarios, your terminology, your assessment language.</a:t>
            </a:r>
          </a:p>
        </p:txBody>
      </p:sp>
      <p:sp>
        <p:nvSpPr>
          <p:cNvPr id="14" name="TextBox 13"/>
          <p:cNvSpPr txBox="1"/>
          <p:nvPr/>
        </p:nvSpPr>
        <p:spPr>
          <a:xfrm>
            <a:off x="786384" y="5943600"/>
            <a:ext cx="10607040" cy="457200"/>
          </a:xfrm>
          <a:prstGeom prst="rect">
            <a:avLst/>
          </a:prstGeom>
          <a:noFill/>
        </p:spPr>
        <p:txBody>
          <a:bodyPr wrap="square" lIns="0" rIns="0" tIns="0" bIns="0">
            <a:spAutoFit/>
          </a:bodyPr>
          <a:lstStyle/>
          <a:p>
            <a:pPr algn="l">
              <a:spcAft>
                <a:spcPts val="0"/>
              </a:spcAft>
            </a:pPr>
            <a:r>
              <a:rPr sz="1400" b="1" i="0">
                <a:solidFill>
                  <a:srgbClr val="6B7083"/>
                </a:solidFill>
                <a:latin typeface="Arial"/>
              </a:rPr>
              <a:t>None of this is decided today. The pilot is free either way.</a:t>
            </a:r>
          </a:p>
        </p:txBody>
      </p:sp>
      <p:sp>
        <p:nvSpPr>
          <p:cNvPr id="15" name="TextBox 14"/>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A32B2B"/>
                </a:solidFill>
                <a:latin typeface="Arial"/>
              </a:rPr>
              <a:t>SCOPE AND INTEGRITY</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What this is not</a:t>
            </a:r>
          </a:p>
        </p:txBody>
      </p:sp>
      <p:sp>
        <p:nvSpPr>
          <p:cNvPr id="5" name="Rectangle 4"/>
          <p:cNvSpPr/>
          <p:nvPr/>
        </p:nvSpPr>
        <p:spPr>
          <a:xfrm>
            <a:off x="786384" y="1938528"/>
            <a:ext cx="1828800" cy="44450"/>
          </a:xfrm>
          <a:prstGeom prst="rect">
            <a:avLst/>
          </a:prstGeom>
          <a:solidFill>
            <a:srgbClr val="A3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78608"/>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 trade qualification</a:t>
            </a:r>
          </a:p>
          <a:p>
            <a:pPr algn="l">
              <a:lnSpc>
                <a:spcPct val="128000"/>
              </a:lnSpc>
              <a:spcAft>
                <a:spcPts val="0"/>
              </a:spcAft>
            </a:pPr>
            <a:r>
              <a:rPr sz="1250" b="0" i="0">
                <a:solidFill>
                  <a:srgbClr val="3A3A46"/>
                </a:solidFill>
                <a:latin typeface="Arial"/>
              </a:rPr>
              <a:t>It does not certify that anyone can weld. AWS, ASME, IIW and your own assessments are untouched by it.</a:t>
            </a:r>
          </a:p>
        </p:txBody>
      </p:sp>
      <p:sp>
        <p:nvSpPr>
          <p:cNvPr id="8" name="Rounded Rectangle 7"/>
          <p:cNvSpPr/>
          <p:nvPr/>
        </p:nvSpPr>
        <p:spPr>
          <a:xfrm>
            <a:off x="786384" y="3584448"/>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785616"/>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an English proficiency certificate</a:t>
            </a:r>
          </a:p>
          <a:p>
            <a:pPr algn="l">
              <a:lnSpc>
                <a:spcPct val="128000"/>
              </a:lnSpc>
              <a:spcAft>
                <a:spcPts val="0"/>
              </a:spcAft>
            </a:pPr>
            <a:r>
              <a:rPr sz="1250" b="0" i="0">
                <a:solidFill>
                  <a:srgbClr val="3A3A46"/>
                </a:solidFill>
                <a:latin typeface="Arial"/>
              </a:rPr>
              <a:t>The certificate is for completing the app's own 84-session programme. It is not IELTS, not a CEFR level, and written English is not assessed at all.</a:t>
            </a:r>
          </a:p>
        </p:txBody>
      </p:sp>
      <p:sp>
        <p:nvSpPr>
          <p:cNvPr id="10" name="Rounded Rectangle 9"/>
          <p:cNvSpPr/>
          <p:nvPr/>
        </p:nvSpPr>
        <p:spPr>
          <a:xfrm>
            <a:off x="786384" y="4791456"/>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92624"/>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 replacement for your teaching</a:t>
            </a:r>
          </a:p>
          <a:p>
            <a:pPr algn="l">
              <a:lnSpc>
                <a:spcPct val="128000"/>
              </a:lnSpc>
              <a:spcAft>
                <a:spcPts val="0"/>
              </a:spcAft>
            </a:pPr>
            <a:r>
              <a:rPr sz="1250" b="0" i="0">
                <a:solidFill>
                  <a:srgbClr val="3A3A46"/>
                </a:solidFill>
                <a:latin typeface="Arial"/>
              </a:rPr>
              <a:t>One layer on top of your programme: professional English, workplace communication practice, and evidence of both.</a:t>
            </a:r>
          </a:p>
        </p:txBody>
      </p:sp>
      <p:sp>
        <p:nvSpPr>
          <p:cNvPr id="12" name="TextBox 11"/>
          <p:cNvSpPr txBox="1"/>
          <p:nvPr/>
        </p:nvSpPr>
        <p:spPr>
          <a:xfrm>
            <a:off x="786384" y="5943600"/>
            <a:ext cx="10607040" cy="457200"/>
          </a:xfrm>
          <a:prstGeom prst="rect">
            <a:avLst/>
          </a:prstGeom>
          <a:noFill/>
        </p:spPr>
        <p:txBody>
          <a:bodyPr wrap="square" lIns="0" rIns="0" tIns="0" bIns="0">
            <a:spAutoFit/>
          </a:bodyPr>
          <a:lstStyle/>
          <a:p>
            <a:pPr algn="l">
              <a:spcAft>
                <a:spcPts val="0"/>
              </a:spcAft>
            </a:pPr>
            <a:r>
              <a:rPr sz="1250" b="1" i="0">
                <a:solidFill>
                  <a:srgbClr val="6B7083"/>
                </a:solidFill>
                <a:latin typeface="Arial"/>
              </a:rPr>
              <a:t>Your course page currently promises certification in written and spoken English. Worth correcting before a cohort starts — a suggested sentence is in the proposal.</a:t>
            </a:r>
          </a:p>
        </p:txBody>
      </p:sp>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737360"/>
            <a:ext cx="10058400" cy="3017520"/>
          </a:xfrm>
          <a:prstGeom prst="rect">
            <a:avLst/>
          </a:prstGeom>
          <a:noFill/>
        </p:spPr>
        <p:txBody>
          <a:bodyPr wrap="square" lIns="0" rIns="0" tIns="0" bIns="0">
            <a:spAutoFit/>
          </a:bodyPr>
          <a:lstStyle/>
          <a:p>
            <a:pPr algn="l">
              <a:spcAft>
                <a:spcPts val="1800"/>
              </a:spcAft>
            </a:pPr>
            <a:r>
              <a:rPr sz="1300" b="1" i="0">
                <a:solidFill>
                  <a:srgbClr val="A798FF"/>
                </a:solidFill>
                <a:latin typeface="Arial"/>
              </a:rPr>
              <a:t>THE DECISION</a:t>
            </a:r>
          </a:p>
          <a:p>
            <a:pPr algn="l">
              <a:lnSpc>
                <a:spcPct val="106000"/>
              </a:lnSpc>
              <a:spcAft>
                <a:spcPts val="1000"/>
              </a:spcAft>
            </a:pPr>
            <a:r>
              <a:rPr sz="4000" b="1" i="0">
                <a:solidFill>
                  <a:srgbClr val="FFFFFF"/>
                </a:solidFill>
                <a:latin typeface="Arial"/>
              </a:rPr>
              <a:t>One cohort. Four weeks. Free.</a:t>
            </a:r>
          </a:p>
          <a:p>
            <a:pPr algn="l">
              <a:lnSpc>
                <a:spcPct val="120000"/>
              </a:lnSpc>
              <a:spcAft>
                <a:spcPts val="2800"/>
              </a:spcAft>
            </a:pPr>
            <a:r>
              <a:rPr sz="2000" b="1" i="0">
                <a:solidFill>
                  <a:srgbClr val="A798FF"/>
                </a:solidFill>
                <a:latin typeface="Arial"/>
              </a:rPr>
              <a:t>Not a contract. Not a price. Not a commitment to anything after it.</a:t>
            </a:r>
          </a:p>
          <a:p>
            <a:pPr algn="l">
              <a:spcAft>
                <a:spcPts val="600"/>
              </a:spcAft>
            </a:pPr>
            <a:r>
              <a:rPr sz="1700" b="1" i="0">
                <a:solidFill>
                  <a:srgbClr val="FFFFFF"/>
                </a:solidFill>
                <a:latin typeface="Arial"/>
              </a:rPr>
              <a:t>If yes — we need a start date and one instructor's name.</a:t>
            </a:r>
          </a:p>
          <a:p>
            <a:pPr algn="l">
              <a:spcAft>
                <a:spcPts val="0"/>
              </a:spcAft>
            </a:pPr>
            <a:r>
              <a:rPr sz="1700" b="0" i="0">
                <a:solidFill>
                  <a:srgbClr val="CBC3F5"/>
                </a:solidFill>
                <a:latin typeface="Arial"/>
              </a:rPr>
              <a:t>If no — I would like to know what would have had to be true.</a:t>
            </a:r>
          </a:p>
        </p:txBody>
      </p:sp>
      <p:sp>
        <p:nvSpPr>
          <p:cNvPr id="4" name="TextBox 3"/>
          <p:cNvSpPr txBox="1"/>
          <p:nvPr/>
        </p:nvSpPr>
        <p:spPr>
          <a:xfrm>
            <a:off x="786384" y="5760720"/>
            <a:ext cx="10607040" cy="457200"/>
          </a:xfrm>
          <a:prstGeom prst="rect">
            <a:avLst/>
          </a:prstGeom>
          <a:noFill/>
        </p:spPr>
        <p:txBody>
          <a:bodyPr wrap="square" lIns="0" rIns="0" tIns="0" bIns="0">
            <a:spAutoFit/>
          </a:bodyPr>
          <a:lstStyle/>
          <a:p>
            <a:pPr algn="l">
              <a:spcAft>
                <a:spcPts val="0"/>
              </a:spcAft>
            </a:pPr>
            <a:r>
              <a:rPr sz="1300" b="0" i="0">
                <a:solidFill>
                  <a:srgbClr val="CBC3F5"/>
                </a:solidFill>
                <a:latin typeface="Arial"/>
              </a:rPr>
              <a:t>Lomonec LLC  ·  contact@lomonec.com  ·  app.lomonec.com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