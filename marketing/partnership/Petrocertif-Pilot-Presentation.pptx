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two things you want from this meeting, so nothing is a surprise:</a:t>
            </a:r>
          </a:p>
          <a:p/>
          <a:p>
            <a:r>
              <a:t>"Two things today. First, I want to propose a pilot — one cohort, four weeks, free. Second, and honestly: this is the first time I present this properly, and I want you to tell me where it is weak, because I am taking the same presentation to academies in Ghana, Nigeria, Kenya and Canada."</a:t>
            </a:r>
          </a:p>
          <a:p/>
          <a:p>
            <a:r>
              <a:t>Then move on. Do not dwell on it — it buys goodwill, it is not the subject.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running order out loud and give the time. People relax when they know how long something will take.</a:t>
            </a:r>
          </a:p>
          <a:p/>
          <a:p>
            <a:r>
              <a:t>"Twenty minutes. Five on the problem, five on the tool, ten on how the pilot actually runs. The only decision I am asking for today is whether you want one cohort to try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argument. Say it slowly and then stop talking.</a:t>
            </a:r>
          </a:p>
          <a:p/>
          <a:p>
            <a:r>
              <a:t>"Your courses teach someone to read an isometric, a P&amp;ID, a metal-structure drawing. That is real skill and it is what they pay you for. But on an international site the supervisor is the person who has to open their mouth: brief the crew from that drawing, tell the fabricator the fit-up is wrong, explain a weld-quality concern to an inspector, hand over a shift."</a:t>
            </a:r>
          </a:p>
          <a:p/>
          <a:p>
            <a:r>
              <a:t>Then the line that matters: "Reading is taught. Saying it is not." Pause. Let him agree or push back — either is useful.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makes the meeting easy, and it is his own copy, so it cannot be argued with.</a:t>
            </a:r>
          </a:p>
          <a:p/>
          <a:p>
            <a:r>
              <a:t>"You already tell your learners this. It is on your course page today. I am not asking you to add something new — I am asking to make a line you have already published true, and to prove it with numbers."</a:t>
            </a:r>
          </a:p>
          <a:p/>
          <a:p>
            <a:r>
              <a:t>Do not say it accusingly. He wrote it because he believed it. The point is that it is currently a promise with no evidence behind it, and that is fixable in four weeks.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do not describe. If you have signal, open the app on your phone and hand it to him.</a:t>
            </a:r>
          </a:p>
          <a:p/>
          <a:p>
            <a:r>
              <a:t>"These are the conversations a supervisor actually has. He picks one, and the crew talks to him — HR, the supervisor, the tool room, safety, QA. Not one voice. The whole room, in one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 typing anywhere in this. He talks, they answer, it goes where the conversation goes. And if the network drops in the middle — which it will — it keeps running."</a:t>
            </a:r>
          </a:p>
          <a:p/>
          <a:p>
            <a:r>
              <a:t>If he asks about data cost: the conversation is text, the scoring is a short clip. It is small. Be honest that Executive Polish and scoring need internet; the rest works offline.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This is the money slide and the thing nobody else does.</a:t>
            </a:r>
          </a:p>
          <a:p/>
          <a:p>
            <a:r>
              <a:t>"A score tells you that you failed. This tells you what was missing and gives you the sentence that would have carried it. Then the person who asked the question reads it back to you, so you hear it before you say it."</a:t>
            </a:r>
          </a:p>
          <a:p/>
          <a:p>
            <a:r>
              <a:t>If he only remembers one slide, make it this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learners finish the technical training and then meet a recruiter who decides in ninety seconds. This is where they get to have that conversation twenty times first."</a:t>
            </a:r>
          </a:p>
          <a:p/>
          <a:p>
            <a:r>
              <a:t>Tie it back to his own offer — his page already mentions LinkedIn support. This is the practice that makes that support worth something.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that matters to you as an academy, not just to the learner. At the end of four weeks I can tell you what actually happened — how many spoke, how often, and whether their answers got more complete. Not how many logged in."</a:t>
            </a:r>
          </a:p>
          <a:p/>
          <a:p>
            <a:r>
              <a:t>This slide is the bridge into the pilot half of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about the limit before he finds it himself. This builds more trust than any feature slide.</a:t>
            </a:r>
          </a:p>
          <a:p/>
          <a:p>
            <a:r>
              <a:t>"BE Mastery carries three trades today: welder, pipefitter, boilermaker. Those map onto three of your programmes exactly. Your other six — electrical, civil, instrumentation, renewable, metal structures, storage tanks — are not built yet. I am not going to pretend they are."</a:t>
            </a:r>
          </a:p>
          <a:p/>
          <a:p>
            <a:r>
              <a:t>Then the upside: "The pilot decides which one gets built next, and you choose it." That turns a limitation into his decision.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whole ask in one breath, then stop.</a:t>
            </a:r>
          </a:p>
          <a:p/>
          <a:p>
            <a:r>
              <a:t>"One cohort. Twenty to thirty of your learners from those three programmes. Four weeks. Free — no licence, no per-seat cost, no commitment after it ends. You give me the cohort and twenty minutes to introduce it. I do everything else, including the measuring."</a:t>
            </a:r>
          </a:p>
          <a:p/>
          <a:p>
            <a:r>
              <a:t>Then: "Nothing gets published without your written approval." Say that unprompted. It is the sentence that makes a partner comfortable.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left column slowly — it is short on purpose, and it is the part he is buying.</a:t>
            </a:r>
          </a:p>
          <a:p/>
          <a:p>
            <a:r>
              <a:t>"Your side is four things, and three of them take an hour in total. My side is everything else."</a:t>
            </a:r>
          </a:p>
          <a:p/>
          <a:p>
            <a:r>
              <a:t>The one that needs a real commitment is the instructor observations. Ask directly: "Which instructor would be the one to notice? Can I have ten minutes of their time in week two and week four?" Getting a name here is the difference between a pilot that happens and one that drifts.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 will ask this, so answer it before he does. Be concrete — a training director thinks in contact hours.</a:t>
            </a:r>
          </a:p>
          <a:p/>
          <a:p>
            <a:r>
              <a:t>"Twenty-five minutes a day, in their own time, on their own phone. Not a class, not a timetable. Four things: warm up by shadowing a real speaker, do the day's session, run one workplace conversation, then read the report on what they missed. Roughly ten hours across the four weeks."</a:t>
            </a:r>
          </a:p>
          <a:p/>
          <a:p>
            <a:r>
              <a:t>If he pushes on whether they will actually do it: be honest. Some will not. That is exactly what activation and weekly-return numbers are for, and it is why the pilot is worth running.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 it is a reassurance slide, not a content slide.</a:t>
            </a:r>
          </a:p>
          <a:p/>
          <a:p>
            <a:r>
              <a:t>"Week one we set them up and capture a baseline: their first recorded answer, before any practice. Weeks two and three they just use it. Week four they run the interview simulations and we measure the same thing again, so there is a before and an after from the same person."</a:t>
            </a:r>
          </a:p>
          <a:p/>
          <a:p>
            <a:r>
              <a:t>The baseline is the bit that makes the whole pilot credible. Do not let week one slip.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is agreed before we start, not argued about afterwards. Seven numbers. If you want to add one, add it now — that is much better than discovering in week four that we were measuring different things."</a:t>
            </a:r>
          </a:p>
          <a:p/>
          <a:p>
            <a:r>
              <a:t>Genuinely invite him to add one. An institution that helps define the measure believes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skip this. Saying it yourself, before he asks, is what separates a partner from a vendor.</a:t>
            </a:r>
          </a:p>
          <a:p/>
          <a:p>
            <a:r>
              <a:t>"Three things this is not. It is not a trade qualification. It is not a recognised English proficiency certificate — the certificate the app issues is a completion certificate for its own programme, and it does not test written English at all. And it does not replace anything you teach."</a:t>
            </a:r>
          </a:p>
          <a:p/>
          <a:p>
            <a:r>
              <a:t>Then raise the wording, gently and privately if you prefer: his course page currently says 'certification in written and spoken English'. If a learner enrols expecting that, the complaint lands on his academy, not on you. Offer the replacement sentence from the proposal. This will be remembered.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his side first and mean it. Then be honest about yours — it is disarming, and he already knows.</a:t>
            </a:r>
          </a:p>
          <a:p/>
          <a:p>
            <a:r>
              <a:t>"For you: the English line on your page stops being a promise and becomes something you can show, with a report and first choice of which discipline gets built next. For me: this is the evidence I need before I approach anyone else. I am not pretending otherwise — you are the first, and that is why you get to shape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smallest possible yes, and then be quiet. Do not fill the silence.</a:t>
            </a:r>
          </a:p>
          <a:p/>
          <a:p>
            <a:r>
              <a:t>"So: one cohort, four weeks, free. If you say yes today, week one can start whenever your next intake does."</a:t>
            </a:r>
          </a:p>
          <a:p/>
          <a:p>
            <a:r>
              <a:t>Then the two questions you actually came for:</a:t>
            </a:r>
          </a:p>
          <a:p>
            <a:r>
              <a:t>  1. "If you did not know me, what would stop you saying yes?"</a:t>
            </a:r>
          </a:p>
          <a:p>
            <a:r>
              <a:t>  2. "Which slide would you forward to your partners, and which would you delete?"</a:t>
            </a:r>
          </a:p>
          <a:p/>
          <a:p>
            <a:r>
              <a:t>Write the answers down the same day. Those two answers are worth more to you than the pilot itself.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titl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2148840"/>
            <a:ext cx="9692640" cy="2377440"/>
          </a:xfrm>
          <a:prstGeom prst="rect">
            <a:avLst/>
          </a:prstGeom>
          <a:noFill/>
        </p:spPr>
        <p:txBody>
          <a:bodyPr wrap="square" lIns="0" rIns="0" tIns="0" bIns="0">
            <a:spAutoFit/>
          </a:bodyPr>
          <a:lstStyle/>
          <a:p>
            <a:pPr algn="l">
              <a:spcAft>
                <a:spcPts val="2000"/>
              </a:spcAft>
            </a:pPr>
            <a:r>
              <a:rPr sz="1300" b="1" i="0">
                <a:solidFill>
                  <a:srgbClr val="A798FF"/>
                </a:solidFill>
                <a:latin typeface="Arial"/>
              </a:rPr>
              <a:t>FOUR-WEEK PILOT PROPOSAL</a:t>
            </a:r>
          </a:p>
          <a:p>
            <a:pPr algn="l">
              <a:lnSpc>
                <a:spcPct val="106000"/>
              </a:lnSpc>
              <a:spcAft>
                <a:spcPts val="1600"/>
              </a:spcAft>
            </a:pPr>
            <a:r>
              <a:rPr sz="4400" b="1" i="0">
                <a:solidFill>
                  <a:srgbClr val="FFFFFF"/>
                </a:solidFill>
                <a:latin typeface="Arial"/>
              </a:rPr>
              <a:t>Petrocertif Construction Academy
× BE Mastery</a:t>
            </a:r>
          </a:p>
          <a:p>
            <a:pPr algn="l">
              <a:spcAft>
                <a:spcPts val="0"/>
              </a:spcAft>
            </a:pPr>
            <a:r>
              <a:rPr sz="1700" b="0" i="0">
                <a:solidFill>
                  <a:srgbClr val="CBC3F5"/>
                </a:solidFill>
                <a:latin typeface="Arial"/>
              </a:rPr>
              <a:t>Professional English for supervisors in industrial and energy projects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AGENDA</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400" b="1" i="0">
                <a:solidFill>
                  <a:srgbClr val="2B1F5E"/>
                </a:solidFill>
                <a:latin typeface="Arial"/>
              </a:rPr>
              <a:t>Twenty minutes, four parts</a:t>
            </a:r>
          </a:p>
        </p:txBody>
      </p:sp>
      <p:sp>
        <p:nvSpPr>
          <p:cNvPr id="5" name="Rectangle 4"/>
          <p:cNvSpPr/>
          <p:nvPr/>
        </p:nvSpPr>
        <p:spPr>
          <a:xfrm>
            <a:off x="786384" y="1965960"/>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395728"/>
            <a:ext cx="822960" cy="731520"/>
          </a:xfrm>
          <a:prstGeom prst="rect">
            <a:avLst/>
          </a:prstGeom>
          <a:noFill/>
        </p:spPr>
        <p:txBody>
          <a:bodyPr wrap="square" lIns="0" rIns="0" tIns="0" bIns="0">
            <a:spAutoFit/>
          </a:bodyPr>
          <a:lstStyle/>
          <a:p>
            <a:pPr algn="l">
              <a:spcAft>
                <a:spcPts val="0"/>
              </a:spcAft>
            </a:pPr>
            <a:r>
              <a:rPr sz="2600" b="1" i="0">
                <a:solidFill>
                  <a:srgbClr val="4A32DC"/>
                </a:solidFill>
                <a:latin typeface="Arial"/>
              </a:rPr>
              <a:t>01</a:t>
            </a:r>
          </a:p>
        </p:txBody>
      </p:sp>
      <p:sp>
        <p:nvSpPr>
          <p:cNvPr id="7" name="TextBox 6"/>
          <p:cNvSpPr txBox="1"/>
          <p:nvPr/>
        </p:nvSpPr>
        <p:spPr>
          <a:xfrm>
            <a:off x="1700784" y="2368296"/>
            <a:ext cx="9509760" cy="822960"/>
          </a:xfrm>
          <a:prstGeom prst="rect">
            <a:avLst/>
          </a:prstGeom>
          <a:noFill/>
        </p:spPr>
        <p:txBody>
          <a:bodyPr wrap="square" lIns="0" rIns="0" tIns="0" bIns="0">
            <a:spAutoFit/>
          </a:bodyPr>
          <a:lstStyle/>
          <a:p>
            <a:pPr algn="l">
              <a:spcAft>
                <a:spcPts val="300"/>
              </a:spcAft>
            </a:pPr>
            <a:r>
              <a:rPr sz="1700" b="1" i="0">
                <a:solidFill>
                  <a:srgbClr val="2B1F5E"/>
                </a:solidFill>
                <a:latin typeface="Arial"/>
              </a:rPr>
              <a:t>The gap your programmes leave open</a:t>
            </a:r>
          </a:p>
          <a:p>
            <a:pPr algn="l">
              <a:lnSpc>
                <a:spcPct val="125000"/>
              </a:lnSpc>
              <a:spcAft>
                <a:spcPts val="0"/>
              </a:spcAft>
            </a:pPr>
            <a:r>
              <a:rPr sz="1250" b="0" i="0">
                <a:solidFill>
                  <a:srgbClr val="6B7083"/>
                </a:solidFill>
                <a:latin typeface="Arial"/>
              </a:rPr>
              <a:t>Five minutes. Reading a plan and explaining it are different skills. Only one of them is taught.</a:t>
            </a:r>
          </a:p>
        </p:txBody>
      </p:sp>
      <p:sp>
        <p:nvSpPr>
          <p:cNvPr id="8" name="TextBox 7"/>
          <p:cNvSpPr txBox="1"/>
          <p:nvPr/>
        </p:nvSpPr>
        <p:spPr>
          <a:xfrm>
            <a:off x="786384" y="3328416"/>
            <a:ext cx="822960" cy="731520"/>
          </a:xfrm>
          <a:prstGeom prst="rect">
            <a:avLst/>
          </a:prstGeom>
          <a:noFill/>
        </p:spPr>
        <p:txBody>
          <a:bodyPr wrap="square" lIns="0" rIns="0" tIns="0" bIns="0">
            <a:spAutoFit/>
          </a:bodyPr>
          <a:lstStyle/>
          <a:p>
            <a:pPr algn="l">
              <a:spcAft>
                <a:spcPts val="0"/>
              </a:spcAft>
            </a:pPr>
            <a:r>
              <a:rPr sz="2600" b="1" i="0">
                <a:solidFill>
                  <a:srgbClr val="4A32DC"/>
                </a:solidFill>
                <a:latin typeface="Arial"/>
              </a:rPr>
              <a:t>02</a:t>
            </a:r>
          </a:p>
        </p:txBody>
      </p:sp>
      <p:sp>
        <p:nvSpPr>
          <p:cNvPr id="9" name="TextBox 8"/>
          <p:cNvSpPr txBox="1"/>
          <p:nvPr/>
        </p:nvSpPr>
        <p:spPr>
          <a:xfrm>
            <a:off x="1700784" y="3300984"/>
            <a:ext cx="9509760" cy="822960"/>
          </a:xfrm>
          <a:prstGeom prst="rect">
            <a:avLst/>
          </a:prstGeom>
          <a:noFill/>
        </p:spPr>
        <p:txBody>
          <a:bodyPr wrap="square" lIns="0" rIns="0" tIns="0" bIns="0">
            <a:spAutoFit/>
          </a:bodyPr>
          <a:lstStyle/>
          <a:p>
            <a:pPr algn="l">
              <a:spcAft>
                <a:spcPts val="300"/>
              </a:spcAft>
            </a:pPr>
            <a:r>
              <a:rPr sz="1700" b="1" i="0">
                <a:solidFill>
                  <a:srgbClr val="2B1F5E"/>
                </a:solidFill>
                <a:latin typeface="Arial"/>
              </a:rPr>
              <a:t>What BE Mastery does about it</a:t>
            </a:r>
          </a:p>
          <a:p>
            <a:pPr algn="l">
              <a:lnSpc>
                <a:spcPct val="125000"/>
              </a:lnSpc>
              <a:spcAft>
                <a:spcPts val="0"/>
              </a:spcAft>
            </a:pPr>
            <a:r>
              <a:rPr sz="1250" b="0" i="0">
                <a:solidFill>
                  <a:srgbClr val="6B7083"/>
                </a:solidFill>
                <a:latin typeface="Arial"/>
              </a:rPr>
              <a:t>Five minutes, on screen. Not slides of features — the actual product.</a:t>
            </a:r>
          </a:p>
        </p:txBody>
      </p:sp>
      <p:sp>
        <p:nvSpPr>
          <p:cNvPr id="10" name="TextBox 9"/>
          <p:cNvSpPr txBox="1"/>
          <p:nvPr/>
        </p:nvSpPr>
        <p:spPr>
          <a:xfrm>
            <a:off x="786384" y="4261104"/>
            <a:ext cx="822960" cy="731520"/>
          </a:xfrm>
          <a:prstGeom prst="rect">
            <a:avLst/>
          </a:prstGeom>
          <a:noFill/>
        </p:spPr>
        <p:txBody>
          <a:bodyPr wrap="square" lIns="0" rIns="0" tIns="0" bIns="0">
            <a:spAutoFit/>
          </a:bodyPr>
          <a:lstStyle/>
          <a:p>
            <a:pPr algn="l">
              <a:spcAft>
                <a:spcPts val="0"/>
              </a:spcAft>
            </a:pPr>
            <a:r>
              <a:rPr sz="2600" b="1" i="0">
                <a:solidFill>
                  <a:srgbClr val="4A32DC"/>
                </a:solidFill>
                <a:latin typeface="Arial"/>
              </a:rPr>
              <a:t>03</a:t>
            </a:r>
          </a:p>
        </p:txBody>
      </p:sp>
      <p:sp>
        <p:nvSpPr>
          <p:cNvPr id="11" name="TextBox 10"/>
          <p:cNvSpPr txBox="1"/>
          <p:nvPr/>
        </p:nvSpPr>
        <p:spPr>
          <a:xfrm>
            <a:off x="1700784" y="4233672"/>
            <a:ext cx="9509760" cy="822960"/>
          </a:xfrm>
          <a:prstGeom prst="rect">
            <a:avLst/>
          </a:prstGeom>
          <a:noFill/>
        </p:spPr>
        <p:txBody>
          <a:bodyPr wrap="square" lIns="0" rIns="0" tIns="0" bIns="0">
            <a:spAutoFit/>
          </a:bodyPr>
          <a:lstStyle/>
          <a:p>
            <a:pPr algn="l">
              <a:spcAft>
                <a:spcPts val="300"/>
              </a:spcAft>
            </a:pPr>
            <a:r>
              <a:rPr sz="1700" b="1" i="0">
                <a:solidFill>
                  <a:srgbClr val="2B1F5E"/>
                </a:solidFill>
                <a:latin typeface="Arial"/>
              </a:rPr>
              <a:t>How the pilot runs</a:t>
            </a:r>
          </a:p>
          <a:p>
            <a:pPr algn="l">
              <a:lnSpc>
                <a:spcPct val="125000"/>
              </a:lnSpc>
              <a:spcAft>
                <a:spcPts val="0"/>
              </a:spcAft>
            </a:pPr>
            <a:r>
              <a:rPr sz="1250" b="0" i="0">
                <a:solidFill>
                  <a:srgbClr val="6B7083"/>
                </a:solidFill>
                <a:latin typeface="Arial"/>
              </a:rPr>
              <a:t>Ten minutes. Who does what, what a learner does each day, what we measure, over four weeks.</a:t>
            </a:r>
          </a:p>
        </p:txBody>
      </p:sp>
      <p:sp>
        <p:nvSpPr>
          <p:cNvPr id="12" name="TextBox 11"/>
          <p:cNvSpPr txBox="1"/>
          <p:nvPr/>
        </p:nvSpPr>
        <p:spPr>
          <a:xfrm>
            <a:off x="786384" y="5193792"/>
            <a:ext cx="822960" cy="731520"/>
          </a:xfrm>
          <a:prstGeom prst="rect">
            <a:avLst/>
          </a:prstGeom>
          <a:noFill/>
        </p:spPr>
        <p:txBody>
          <a:bodyPr wrap="square" lIns="0" rIns="0" tIns="0" bIns="0">
            <a:spAutoFit/>
          </a:bodyPr>
          <a:lstStyle/>
          <a:p>
            <a:pPr algn="l">
              <a:spcAft>
                <a:spcPts val="0"/>
              </a:spcAft>
            </a:pPr>
            <a:r>
              <a:rPr sz="2600" b="1" i="0">
                <a:solidFill>
                  <a:srgbClr val="4A32DC"/>
                </a:solidFill>
                <a:latin typeface="Arial"/>
              </a:rPr>
              <a:t>04</a:t>
            </a:r>
          </a:p>
        </p:txBody>
      </p:sp>
      <p:sp>
        <p:nvSpPr>
          <p:cNvPr id="13" name="TextBox 12"/>
          <p:cNvSpPr txBox="1"/>
          <p:nvPr/>
        </p:nvSpPr>
        <p:spPr>
          <a:xfrm>
            <a:off x="1700784" y="5166360"/>
            <a:ext cx="9509760" cy="822960"/>
          </a:xfrm>
          <a:prstGeom prst="rect">
            <a:avLst/>
          </a:prstGeom>
          <a:noFill/>
        </p:spPr>
        <p:txBody>
          <a:bodyPr wrap="square" lIns="0" rIns="0" tIns="0" bIns="0">
            <a:spAutoFit/>
          </a:bodyPr>
          <a:lstStyle/>
          <a:p>
            <a:pPr algn="l">
              <a:spcAft>
                <a:spcPts val="300"/>
              </a:spcAft>
            </a:pPr>
            <a:r>
              <a:rPr sz="1700" b="1" i="0">
                <a:solidFill>
                  <a:srgbClr val="2B1F5E"/>
                </a:solidFill>
                <a:latin typeface="Arial"/>
              </a:rPr>
              <a:t>What I am asking for</a:t>
            </a:r>
          </a:p>
          <a:p>
            <a:pPr algn="l">
              <a:lnSpc>
                <a:spcPct val="125000"/>
              </a:lnSpc>
              <a:spcAft>
                <a:spcPts val="0"/>
              </a:spcAft>
            </a:pPr>
            <a:r>
              <a:rPr sz="1250" b="0" i="0">
                <a:solidFill>
                  <a:srgbClr val="6B7083"/>
                </a:solidFill>
                <a:latin typeface="Arial"/>
              </a:rPr>
              <a:t>One minute. One cohort. Free. No licence discussion today.</a:t>
            </a:r>
          </a:p>
        </p:txBody>
      </p:sp>
      <p:sp>
        <p:nvSpPr>
          <p:cNvPr id="14" name="TextBox 13"/>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dark-lef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1874519"/>
            <a:ext cx="9509760" cy="3429000"/>
          </a:xfrm>
          <a:prstGeom prst="rect">
            <a:avLst/>
          </a:prstGeom>
          <a:noFill/>
        </p:spPr>
        <p:txBody>
          <a:bodyPr wrap="square" lIns="0" rIns="0" tIns="0" bIns="0">
            <a:spAutoFit/>
          </a:bodyPr>
          <a:lstStyle/>
          <a:p>
            <a:pPr algn="l">
              <a:spcAft>
                <a:spcPts val="2200"/>
              </a:spcAft>
            </a:pPr>
            <a:r>
              <a:rPr sz="1300" b="1" i="0">
                <a:solidFill>
                  <a:srgbClr val="A798FF"/>
                </a:solidFill>
                <a:latin typeface="Arial"/>
              </a:rPr>
              <a:t>THE GAP</a:t>
            </a:r>
          </a:p>
          <a:p>
            <a:pPr algn="l">
              <a:lnSpc>
                <a:spcPct val="112000"/>
              </a:lnSpc>
              <a:spcAft>
                <a:spcPts val="800"/>
              </a:spcAft>
            </a:pPr>
            <a:r>
              <a:rPr sz="3300" b="1" i="0">
                <a:solidFill>
                  <a:srgbClr val="FFFFFF"/>
                </a:solidFill>
                <a:latin typeface="Arial"/>
              </a:rPr>
              <a:t>Your programmes teach people to read the plan.</a:t>
            </a:r>
          </a:p>
          <a:p>
            <a:pPr algn="l">
              <a:lnSpc>
                <a:spcPct val="112000"/>
              </a:lnSpc>
              <a:spcAft>
                <a:spcPts val="2400"/>
              </a:spcAft>
            </a:pPr>
            <a:r>
              <a:rPr sz="3300" b="1" i="0">
                <a:solidFill>
                  <a:srgbClr val="A798FF"/>
                </a:solidFill>
                <a:latin typeface="Arial"/>
              </a:rPr>
              <a:t>On site, the supervisor is the one who has to say it.</a:t>
            </a:r>
          </a:p>
          <a:p>
            <a:pPr algn="l">
              <a:lnSpc>
                <a:spcPct val="140000"/>
              </a:lnSpc>
              <a:spcAft>
                <a:spcPts val="0"/>
              </a:spcAft>
            </a:pPr>
            <a:r>
              <a:rPr sz="1400" b="0" i="0">
                <a:solidFill>
                  <a:srgbClr val="CBC3F5"/>
                </a:solidFill>
                <a:latin typeface="Arial"/>
              </a:rPr>
              <a:t>Brief the crew from the drawing  ·  tell the fabricator the fit-up is wrong  ·  discuss a weld-quality concern with an inspector  ·  hand over a shift  ·  sit the interview that got them there</a:t>
            </a:r>
          </a:p>
        </p:txBody>
      </p:sp>
      <p:sp>
        <p:nvSpPr>
          <p:cNvPr id="4" name="TextBox 3"/>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CBC3F5"/>
                </a:solidFill>
                <a:latin typeface="Arial"/>
              </a:rPr>
              <a:t>app.lomonec.com  ·  contact@lomonec.com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YOU HAVE ALREADY PROMISED THIS</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000" b="1" i="0">
                <a:solidFill>
                  <a:srgbClr val="2B1F5E"/>
                </a:solidFill>
                <a:latin typeface="Arial"/>
              </a:rPr>
              <a:t>This line is on your course page today</a:t>
            </a:r>
          </a:p>
        </p:txBody>
      </p:sp>
      <p:sp>
        <p:nvSpPr>
          <p:cNvPr id="5" name="Rectangle 4"/>
          <p:cNvSpPr/>
          <p:nvPr/>
        </p:nvSpPr>
        <p:spPr>
          <a:xfrm>
            <a:off x="786384" y="1874519"/>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286000"/>
            <a:ext cx="10607040" cy="1554480"/>
          </a:xfrm>
          <a:prstGeom prst="roundRect">
            <a:avLst>
              <a:gd name="adj" fmla="val 6000"/>
            </a:avLst>
          </a:prstGeom>
          <a:solidFill>
            <a:srgbClr val="EFEDFB"/>
          </a:solidFill>
          <a:ln w="12700">
            <a:solidFill>
              <a:srgbClr val="D6D0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2542032"/>
            <a:ext cx="9875520" cy="1097280"/>
          </a:xfrm>
          <a:prstGeom prst="rect">
            <a:avLst/>
          </a:prstGeom>
          <a:noFill/>
        </p:spPr>
        <p:txBody>
          <a:bodyPr wrap="square" lIns="0" rIns="0" tIns="0" bIns="0">
            <a:spAutoFit/>
          </a:bodyPr>
          <a:lstStyle/>
          <a:p>
            <a:pPr algn="l">
              <a:lnSpc>
                <a:spcPct val="130000"/>
              </a:lnSpc>
              <a:spcAft>
                <a:spcPts val="600"/>
              </a:spcAft>
            </a:pPr>
            <a:r>
              <a:rPr sz="1700" b="1" i="0">
                <a:solidFill>
                  <a:srgbClr val="2B1F5E"/>
                </a:solidFill>
                <a:latin typeface="Arial"/>
              </a:rPr>
              <a:t>“Enhance your professional English skills, with certification in written and spoken English and a shadowing approach via our LomoneC App — app.lomonec.com”</a:t>
            </a:r>
          </a:p>
          <a:p>
            <a:pPr algn="l">
              <a:spcAft>
                <a:spcPts val="0"/>
              </a:spcAft>
            </a:pPr>
            <a:r>
              <a:rPr sz="1200" b="0" i="0">
                <a:solidFill>
                  <a:srgbClr val="6B7083"/>
                </a:solidFill>
                <a:latin typeface="Arial"/>
              </a:rPr>
              <a:t>— Petrocertif Construction Academy, published course offer</a:t>
            </a:r>
          </a:p>
        </p:txBody>
      </p:sp>
      <p:sp>
        <p:nvSpPr>
          <p:cNvPr id="8" name="TextBox 7"/>
          <p:cNvSpPr txBox="1"/>
          <p:nvPr/>
        </p:nvSpPr>
        <p:spPr>
          <a:xfrm>
            <a:off x="786384" y="4160520"/>
            <a:ext cx="10607040" cy="1463040"/>
          </a:xfrm>
          <a:prstGeom prst="rect">
            <a:avLst/>
          </a:prstGeom>
          <a:noFill/>
        </p:spPr>
        <p:txBody>
          <a:bodyPr wrap="square" lIns="0" rIns="0" tIns="0" bIns="0">
            <a:spAutoFit/>
          </a:bodyPr>
          <a:lstStyle/>
          <a:p>
            <a:pPr algn="l">
              <a:spcAft>
                <a:spcPts val="800"/>
              </a:spcAft>
            </a:pPr>
            <a:r>
              <a:rPr sz="1800" b="1" i="0">
                <a:solidFill>
                  <a:srgbClr val="2B1F5E"/>
                </a:solidFill>
                <a:latin typeface="Arial"/>
              </a:rPr>
              <a:t>The app is live, free, and already carries welder, pipefitter and boilermaker.</a:t>
            </a:r>
          </a:p>
          <a:p>
            <a:pPr algn="l">
              <a:lnSpc>
                <a:spcPct val="135000"/>
              </a:lnSpc>
              <a:spcAft>
                <a:spcPts val="0"/>
              </a:spcAft>
            </a:pPr>
            <a:r>
              <a:rPr sz="1500" b="0" i="0">
                <a:solidFill>
                  <a:srgbClr val="3A3A46"/>
                </a:solidFill>
                <a:latin typeface="Arial"/>
              </a:rPr>
              <a:t>What is missing is evidence of what it does for your learners. That is exactly what a four-week pilot produces — and it costs you nothing but one cohort.</a:t>
            </a:r>
          </a:p>
        </p:txBody>
      </p:sp>
      <p:sp>
        <p:nvSpPr>
          <p:cNvPr id="9" name="TextBox 8"/>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THE WORKPLACE, NOT A LESSON</a:t>
            </a:r>
          </a:p>
        </p:txBody>
      </p:sp>
      <p:sp>
        <p:nvSpPr>
          <p:cNvPr id="4" name="TextBox 3"/>
          <p:cNvSpPr txBox="1"/>
          <p:nvPr/>
        </p:nvSpPr>
        <p:spPr>
          <a:xfrm>
            <a:off x="786384" y="960120"/>
            <a:ext cx="6400800" cy="1371600"/>
          </a:xfrm>
          <a:prstGeom prst="rect">
            <a:avLst/>
          </a:prstGeom>
          <a:noFill/>
        </p:spPr>
        <p:txBody>
          <a:bodyPr wrap="square" lIns="0" rIns="0" tIns="0" bIns="0">
            <a:spAutoFit/>
          </a:bodyPr>
          <a:lstStyle/>
          <a:p>
            <a:pPr algn="l">
              <a:lnSpc>
                <a:spcPct val="106000"/>
              </a:lnSpc>
              <a:spcAft>
                <a:spcPts val="0"/>
              </a:spcAft>
            </a:pPr>
            <a:r>
              <a:rPr sz="3100" b="1" i="0">
                <a:solidFill>
                  <a:srgbClr val="2B1F5E"/>
                </a:solidFill>
                <a:latin typeface="Arial"/>
              </a:rPr>
              <a:t>Twelve workplace scenarios</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95728"/>
            <a:ext cx="6309360" cy="102412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2578608"/>
            <a:ext cx="5760720" cy="731520"/>
          </a:xfrm>
          <a:prstGeom prst="rect">
            <a:avLst/>
          </a:prstGeom>
          <a:noFill/>
        </p:spPr>
        <p:txBody>
          <a:bodyPr wrap="square" lIns="0" rIns="0" tIns="0" bIns="0">
            <a:spAutoFit/>
          </a:bodyPr>
          <a:lstStyle/>
          <a:p>
            <a:pPr algn="l">
              <a:lnSpc>
                <a:spcPct val="130000"/>
              </a:lnSpc>
              <a:spcAft>
                <a:spcPts val="0"/>
              </a:spcAft>
            </a:pPr>
            <a:r>
              <a:rPr sz="1350" b="0" i="0">
                <a:solidFill>
                  <a:srgbClr val="3A3A46"/>
                </a:solidFill>
                <a:latin typeface="Arial"/>
              </a:rPr>
              <a:t/>
            </a:r>
            <a:r>
              <a:rPr sz="1350" b="1">
                <a:solidFill>
                  <a:srgbClr val="2B1F5E"/>
                </a:solidFill>
                <a:latin typeface="Arial"/>
              </a:rPr>
              <a:t>A five-person cast</a:t>
            </a:r>
            <a:r>
              <a:rPr sz="1350">
                <a:solidFill>
                  <a:srgbClr val="3A3A46"/>
                </a:solidFill>
                <a:latin typeface="Arial"/>
              </a:rPr>
              <a:t> — HR, supervisor, coworker, safety officer and QA inspector, talking in one conversation.</a:t>
            </a:r>
          </a:p>
        </p:txBody>
      </p:sp>
      <p:sp>
        <p:nvSpPr>
          <p:cNvPr id="8" name="Rounded Rectangle 7"/>
          <p:cNvSpPr/>
          <p:nvPr/>
        </p:nvSpPr>
        <p:spPr>
          <a:xfrm>
            <a:off x="786384" y="3566160"/>
            <a:ext cx="6309360" cy="102412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3749040"/>
            <a:ext cx="5760720" cy="731520"/>
          </a:xfrm>
          <a:prstGeom prst="rect">
            <a:avLst/>
          </a:prstGeom>
          <a:noFill/>
        </p:spPr>
        <p:txBody>
          <a:bodyPr wrap="square" lIns="0" rIns="0" tIns="0" bIns="0">
            <a:spAutoFit/>
          </a:bodyPr>
          <a:lstStyle/>
          <a:p>
            <a:pPr algn="l">
              <a:lnSpc>
                <a:spcPct val="130000"/>
              </a:lnSpc>
              <a:spcAft>
                <a:spcPts val="0"/>
              </a:spcAft>
            </a:pPr>
            <a:r>
              <a:rPr sz="1350" b="0" i="0">
                <a:solidFill>
                  <a:srgbClr val="3A3A46"/>
                </a:solidFill>
                <a:latin typeface="Arial"/>
              </a:rPr>
              <a:t/>
            </a:r>
            <a:r>
              <a:rPr sz="1350" b="1">
                <a:solidFill>
                  <a:srgbClr val="2B1F5E"/>
                </a:solidFill>
                <a:latin typeface="Arial"/>
              </a:rPr>
              <a:t>First day to final briefing</a:t>
            </a:r>
            <a:r>
              <a:rPr sz="1350">
                <a:solidFill>
                  <a:srgbClr val="3A3A46"/>
                </a:solidFill>
                <a:latin typeface="Arial"/>
              </a:rPr>
              <a:t> — the scenarios follow the shape of a real job, not a syllabus.</a:t>
            </a:r>
          </a:p>
        </p:txBody>
      </p:sp>
      <p:sp>
        <p:nvSpPr>
          <p:cNvPr id="10" name="Rounded Rectangle 9"/>
          <p:cNvSpPr/>
          <p:nvPr/>
        </p:nvSpPr>
        <p:spPr>
          <a:xfrm>
            <a:off x="786384" y="4736592"/>
            <a:ext cx="6309360" cy="102412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4919472"/>
            <a:ext cx="5760720" cy="731520"/>
          </a:xfrm>
          <a:prstGeom prst="rect">
            <a:avLst/>
          </a:prstGeom>
          <a:noFill/>
        </p:spPr>
        <p:txBody>
          <a:bodyPr wrap="square" lIns="0" rIns="0" tIns="0" bIns="0">
            <a:spAutoFit/>
          </a:bodyPr>
          <a:lstStyle/>
          <a:p>
            <a:pPr algn="l">
              <a:lnSpc>
                <a:spcPct val="130000"/>
              </a:lnSpc>
              <a:spcAft>
                <a:spcPts val="0"/>
              </a:spcAft>
            </a:pPr>
            <a:r>
              <a:rPr sz="1350" b="0" i="0">
                <a:solidFill>
                  <a:srgbClr val="3A3A46"/>
                </a:solidFill>
                <a:latin typeface="Arial"/>
              </a:rPr>
              <a:t/>
            </a:r>
            <a:r>
              <a:rPr sz="1350" b="1">
                <a:solidFill>
                  <a:srgbClr val="2B1F5E"/>
                </a:solidFill>
                <a:latin typeface="Arial"/>
              </a:rPr>
              <a:t>Spoken, not typed</a:t>
            </a:r>
            <a:r>
              <a:rPr sz="1350">
                <a:solidFill>
                  <a:srgbClr val="3A3A46"/>
                </a:solidFill>
                <a:latin typeface="Arial"/>
              </a:rPr>
              <a:t> — the learner answers out loud, as often as they like.</a:t>
            </a:r>
          </a:p>
        </p:txBody>
      </p:sp>
      <p:pic>
        <p:nvPicPr>
          <p:cNvPr id="12" name="Picture 11" descr="phone-scenarios.png"/>
          <p:cNvPicPr>
            <a:picLocks noChangeAspect="1"/>
          </p:cNvPicPr>
          <p:nvPr/>
        </p:nvPicPr>
        <p:blipFill>
          <a:blip r:embed="rId4"/>
          <a:stretch>
            <a:fillRect/>
          </a:stretch>
        </p:blipFill>
        <p:spPr>
          <a:xfrm>
            <a:off x="7635240" y="969264"/>
            <a:ext cx="2712455" cy="5120640"/>
          </a:xfrm>
          <a:prstGeom prst="rect">
            <a:avLst/>
          </a:prstGeom>
        </p:spPr>
      </p:pic>
      <p:sp>
        <p:nvSpPr>
          <p:cNvPr id="13" name="TextBox 12"/>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HOW IT FEELS TO USE</a:t>
            </a:r>
          </a:p>
        </p:txBody>
      </p:sp>
      <p:sp>
        <p:nvSpPr>
          <p:cNvPr id="4" name="TextBox 3"/>
          <p:cNvSpPr txBox="1"/>
          <p:nvPr/>
        </p:nvSpPr>
        <p:spPr>
          <a:xfrm>
            <a:off x="786384" y="960120"/>
            <a:ext cx="6400800" cy="1371600"/>
          </a:xfrm>
          <a:prstGeom prst="rect">
            <a:avLst/>
          </a:prstGeom>
          <a:noFill/>
        </p:spPr>
        <p:txBody>
          <a:bodyPr wrap="square" lIns="0" rIns="0" tIns="0" bIns="0">
            <a:spAutoFit/>
          </a:bodyPr>
          <a:lstStyle/>
          <a:p>
            <a:pPr algn="l">
              <a:lnSpc>
                <a:spcPct val="106000"/>
              </a:lnSpc>
              <a:spcAft>
                <a:spcPts val="0"/>
              </a:spcAft>
            </a:pPr>
            <a:r>
              <a:rPr sz="3100" b="1" i="0">
                <a:solidFill>
                  <a:srgbClr val="2B1F5E"/>
                </a:solidFill>
                <a:latin typeface="Arial"/>
              </a:rPr>
              <a:t>You speak. They answer back.</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95728"/>
            <a:ext cx="6309360" cy="102412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2578608"/>
            <a:ext cx="5760720" cy="731520"/>
          </a:xfrm>
          <a:prstGeom prst="rect">
            <a:avLst/>
          </a:prstGeom>
          <a:noFill/>
        </p:spPr>
        <p:txBody>
          <a:bodyPr wrap="square" lIns="0" rIns="0" tIns="0" bIns="0">
            <a:spAutoFit/>
          </a:bodyPr>
          <a:lstStyle/>
          <a:p>
            <a:pPr algn="l">
              <a:lnSpc>
                <a:spcPct val="130000"/>
              </a:lnSpc>
              <a:spcAft>
                <a:spcPts val="0"/>
              </a:spcAft>
            </a:pPr>
            <a:r>
              <a:rPr sz="1350" b="0" i="0">
                <a:solidFill>
                  <a:srgbClr val="3A3A46"/>
                </a:solidFill>
                <a:latin typeface="Arial"/>
              </a:rPr>
              <a:t/>
            </a:r>
            <a:r>
              <a:rPr sz="1350" b="1">
                <a:solidFill>
                  <a:srgbClr val="2B1F5E"/>
                </a:solidFill>
                <a:latin typeface="Arial"/>
              </a:rPr>
              <a:t>Voice-first</a:t>
            </a:r>
            <a:r>
              <a:rPr sz="1350">
                <a:solidFill>
                  <a:srgbClr val="3A3A46"/>
                </a:solidFill>
                <a:latin typeface="Arial"/>
              </a:rPr>
              <a:t> — the learner talks; there is no typing and no multiple choice.</a:t>
            </a:r>
          </a:p>
        </p:txBody>
      </p:sp>
      <p:sp>
        <p:nvSpPr>
          <p:cNvPr id="8" name="Rounded Rectangle 7"/>
          <p:cNvSpPr/>
          <p:nvPr/>
        </p:nvSpPr>
        <p:spPr>
          <a:xfrm>
            <a:off x="786384" y="3566160"/>
            <a:ext cx="6309360" cy="102412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3749040"/>
            <a:ext cx="5760720" cy="731520"/>
          </a:xfrm>
          <a:prstGeom prst="rect">
            <a:avLst/>
          </a:prstGeom>
          <a:noFill/>
        </p:spPr>
        <p:txBody>
          <a:bodyPr wrap="square" lIns="0" rIns="0" tIns="0" bIns="0">
            <a:spAutoFit/>
          </a:bodyPr>
          <a:lstStyle/>
          <a:p>
            <a:pPr algn="l">
              <a:lnSpc>
                <a:spcPct val="130000"/>
              </a:lnSpc>
              <a:spcAft>
                <a:spcPts val="0"/>
              </a:spcAft>
            </a:pPr>
            <a:r>
              <a:rPr sz="1350" b="0" i="0">
                <a:solidFill>
                  <a:srgbClr val="3A3A46"/>
                </a:solidFill>
                <a:latin typeface="Arial"/>
              </a:rPr>
              <a:t/>
            </a:r>
            <a:r>
              <a:rPr sz="1350" b="1">
                <a:solidFill>
                  <a:srgbClr val="2B1F5E"/>
                </a:solidFill>
                <a:latin typeface="Arial"/>
              </a:rPr>
              <a:t>It keeps going</a:t>
            </a:r>
            <a:r>
              <a:rPr sz="1350">
                <a:solidFill>
                  <a:srgbClr val="3A3A46"/>
                </a:solidFill>
                <a:latin typeface="Arial"/>
              </a:rPr>
              <a:t> — lose the network mid-interview and the conversation continues down its question list.</a:t>
            </a:r>
          </a:p>
        </p:txBody>
      </p:sp>
      <p:sp>
        <p:nvSpPr>
          <p:cNvPr id="10" name="Rounded Rectangle 9"/>
          <p:cNvSpPr/>
          <p:nvPr/>
        </p:nvSpPr>
        <p:spPr>
          <a:xfrm>
            <a:off x="786384" y="4736592"/>
            <a:ext cx="6309360" cy="102412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4919472"/>
            <a:ext cx="5760720" cy="731520"/>
          </a:xfrm>
          <a:prstGeom prst="rect">
            <a:avLst/>
          </a:prstGeom>
          <a:noFill/>
        </p:spPr>
        <p:txBody>
          <a:bodyPr wrap="square" lIns="0" rIns="0" tIns="0" bIns="0">
            <a:spAutoFit/>
          </a:bodyPr>
          <a:lstStyle/>
          <a:p>
            <a:pPr algn="l">
              <a:lnSpc>
                <a:spcPct val="130000"/>
              </a:lnSpc>
              <a:spcAft>
                <a:spcPts val="0"/>
              </a:spcAft>
            </a:pPr>
            <a:r>
              <a:rPr sz="1350" b="0" i="0">
                <a:solidFill>
                  <a:srgbClr val="3A3A46"/>
                </a:solidFill>
                <a:latin typeface="Arial"/>
              </a:rPr>
              <a:t/>
            </a:r>
            <a:r>
              <a:rPr sz="1350" b="1">
                <a:solidFill>
                  <a:srgbClr val="2B1F5E"/>
                </a:solidFill>
                <a:latin typeface="Arial"/>
              </a:rPr>
              <a:t>Repeatable</a:t>
            </a:r>
            <a:r>
              <a:rPr sz="1350">
                <a:solidFill>
                  <a:srgbClr val="3A3A46"/>
                </a:solidFill>
                <a:latin typeface="Arial"/>
              </a:rPr>
              <a:t> — the same scenario can be run again tomorrow, and the score moves.</a:t>
            </a:r>
          </a:p>
        </p:txBody>
      </p:sp>
      <p:pic>
        <p:nvPicPr>
          <p:cNvPr id="12" name="Picture 11" descr="phone-conversation.png"/>
          <p:cNvPicPr>
            <a:picLocks noChangeAspect="1"/>
          </p:cNvPicPr>
          <p:nvPr/>
        </p:nvPicPr>
        <p:blipFill>
          <a:blip r:embed="rId4"/>
          <a:stretch>
            <a:fillRect/>
          </a:stretch>
        </p:blipFill>
        <p:spPr>
          <a:xfrm>
            <a:off x="7635240" y="969264"/>
            <a:ext cx="2712455" cy="5120640"/>
          </a:xfrm>
          <a:prstGeom prst="rect">
            <a:avLst/>
          </a:prstGeom>
        </p:spPr>
      </p:pic>
      <p:sp>
        <p:nvSpPr>
          <p:cNvPr id="13" name="TextBox 12"/>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THE PART THAT CHANGES BEHAVIOUR</a:t>
            </a:r>
          </a:p>
        </p:txBody>
      </p:sp>
      <p:sp>
        <p:nvSpPr>
          <p:cNvPr id="4" name="TextBox 3"/>
          <p:cNvSpPr txBox="1"/>
          <p:nvPr/>
        </p:nvSpPr>
        <p:spPr>
          <a:xfrm>
            <a:off x="786384" y="960120"/>
            <a:ext cx="6400800" cy="1371600"/>
          </a:xfrm>
          <a:prstGeom prst="rect">
            <a:avLst/>
          </a:prstGeom>
          <a:noFill/>
        </p:spPr>
        <p:txBody>
          <a:bodyPr wrap="square" lIns="0" rIns="0" tIns="0" bIns="0">
            <a:spAutoFit/>
          </a:bodyPr>
          <a:lstStyle/>
          <a:p>
            <a:pPr algn="l">
              <a:lnSpc>
                <a:spcPct val="106000"/>
              </a:lnSpc>
              <a:spcAft>
                <a:spcPts val="0"/>
              </a:spcAft>
            </a:pPr>
            <a:r>
              <a:rPr sz="3100" b="1" i="0">
                <a:solidFill>
                  <a:srgbClr val="2B1F5E"/>
                </a:solidFill>
                <a:latin typeface="Arial"/>
              </a:rPr>
              <a:t>A report that names the gap</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95728"/>
            <a:ext cx="6309360" cy="102412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2578608"/>
            <a:ext cx="5760720" cy="731520"/>
          </a:xfrm>
          <a:prstGeom prst="rect">
            <a:avLst/>
          </a:prstGeom>
          <a:noFill/>
        </p:spPr>
        <p:txBody>
          <a:bodyPr wrap="square" lIns="0" rIns="0" tIns="0" bIns="0">
            <a:spAutoFit/>
          </a:bodyPr>
          <a:lstStyle/>
          <a:p>
            <a:pPr algn="l">
              <a:lnSpc>
                <a:spcPct val="130000"/>
              </a:lnSpc>
              <a:spcAft>
                <a:spcPts val="0"/>
              </a:spcAft>
            </a:pPr>
            <a:r>
              <a:rPr sz="1350" b="0" i="0">
                <a:solidFill>
                  <a:srgbClr val="3A3A46"/>
                </a:solidFill>
                <a:latin typeface="Arial"/>
              </a:rPr>
              <a:t/>
            </a:r>
            <a:r>
              <a:rPr sz="1350" b="1">
                <a:solidFill>
                  <a:srgbClr val="2B1F5E"/>
                </a:solidFill>
                <a:latin typeface="Arial"/>
              </a:rPr>
              <a:t>What you said</a:t>
            </a:r>
            <a:r>
              <a:rPr sz="1350">
                <a:solidFill>
                  <a:srgbClr val="3A3A46"/>
                </a:solidFill>
                <a:latin typeface="Arial"/>
              </a:rPr>
              <a:t> — his own words, written back to him.</a:t>
            </a:r>
          </a:p>
        </p:txBody>
      </p:sp>
      <p:sp>
        <p:nvSpPr>
          <p:cNvPr id="8" name="Rounded Rectangle 7"/>
          <p:cNvSpPr/>
          <p:nvPr/>
        </p:nvSpPr>
        <p:spPr>
          <a:xfrm>
            <a:off x="786384" y="3566160"/>
            <a:ext cx="6309360" cy="102412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3749040"/>
            <a:ext cx="5760720" cy="731520"/>
          </a:xfrm>
          <a:prstGeom prst="rect">
            <a:avLst/>
          </a:prstGeom>
          <a:noFill/>
        </p:spPr>
        <p:txBody>
          <a:bodyPr wrap="square" lIns="0" rIns="0" tIns="0" bIns="0">
            <a:spAutoFit/>
          </a:bodyPr>
          <a:lstStyle/>
          <a:p>
            <a:pPr algn="l">
              <a:lnSpc>
                <a:spcPct val="130000"/>
              </a:lnSpc>
              <a:spcAft>
                <a:spcPts val="0"/>
              </a:spcAft>
            </a:pPr>
            <a:r>
              <a:rPr sz="1350" b="0" i="0">
                <a:solidFill>
                  <a:srgbClr val="3A3A46"/>
                </a:solidFill>
                <a:latin typeface="Arial"/>
              </a:rPr>
              <a:t/>
            </a:r>
            <a:r>
              <a:rPr sz="1350" b="1">
                <a:solidFill>
                  <a:srgbClr val="2B1F5E"/>
                </a:solidFill>
                <a:latin typeface="Arial"/>
              </a:rPr>
              <a:t>What a competent answer needed</a:t>
            </a:r>
            <a:r>
              <a:rPr sz="1350">
                <a:solidFill>
                  <a:srgbClr val="3A3A46"/>
                </a:solidFill>
                <a:latin typeface="Arial"/>
              </a:rPr>
              <a:t> — which points he covered, which he missed.</a:t>
            </a:r>
          </a:p>
        </p:txBody>
      </p:sp>
      <p:sp>
        <p:nvSpPr>
          <p:cNvPr id="10" name="Rounded Rectangle 9"/>
          <p:cNvSpPr/>
          <p:nvPr/>
        </p:nvSpPr>
        <p:spPr>
          <a:xfrm>
            <a:off x="786384" y="4736592"/>
            <a:ext cx="6309360" cy="102412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4919472"/>
            <a:ext cx="5760720" cy="731520"/>
          </a:xfrm>
          <a:prstGeom prst="rect">
            <a:avLst/>
          </a:prstGeom>
          <a:noFill/>
        </p:spPr>
        <p:txBody>
          <a:bodyPr wrap="square" lIns="0" rIns="0" tIns="0" bIns="0">
            <a:spAutoFit/>
          </a:bodyPr>
          <a:lstStyle/>
          <a:p>
            <a:pPr algn="l">
              <a:lnSpc>
                <a:spcPct val="130000"/>
              </a:lnSpc>
              <a:spcAft>
                <a:spcPts val="0"/>
              </a:spcAft>
            </a:pPr>
            <a:r>
              <a:rPr sz="1350" b="0" i="0">
                <a:solidFill>
                  <a:srgbClr val="3A3A46"/>
                </a:solidFill>
                <a:latin typeface="Arial"/>
              </a:rPr>
              <a:t/>
            </a:r>
            <a:r>
              <a:rPr sz="1350" b="1">
                <a:solidFill>
                  <a:srgbClr val="2B1F5E"/>
                </a:solidFill>
                <a:latin typeface="Arial"/>
              </a:rPr>
              <a:t>The sentence he should have said</a:t>
            </a:r>
            <a:r>
              <a:rPr sz="1350">
                <a:solidFill>
                  <a:srgbClr val="3A3A46"/>
                </a:solidFill>
                <a:latin typeface="Arial"/>
              </a:rPr>
              <a:t> — not a correction, a model to say back.</a:t>
            </a:r>
          </a:p>
        </p:txBody>
      </p:sp>
      <p:pic>
        <p:nvPicPr>
          <p:cNvPr id="12" name="Picture 11" descr="phone-report.png"/>
          <p:cNvPicPr>
            <a:picLocks noChangeAspect="1"/>
          </p:cNvPicPr>
          <p:nvPr/>
        </p:nvPicPr>
        <p:blipFill>
          <a:blip r:embed="rId4"/>
          <a:stretch>
            <a:fillRect/>
          </a:stretch>
        </p:blipFill>
        <p:spPr>
          <a:xfrm>
            <a:off x="7635240" y="969264"/>
            <a:ext cx="3591869" cy="5120640"/>
          </a:xfrm>
          <a:prstGeom prst="rect">
            <a:avLst/>
          </a:prstGeom>
        </p:spPr>
      </p:pic>
      <p:sp>
        <p:nvSpPr>
          <p:cNvPr id="13" name="TextBox 12"/>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BEFORE IT COUNTS</a:t>
            </a:r>
          </a:p>
        </p:txBody>
      </p:sp>
      <p:sp>
        <p:nvSpPr>
          <p:cNvPr id="4" name="TextBox 3"/>
          <p:cNvSpPr txBox="1"/>
          <p:nvPr/>
        </p:nvSpPr>
        <p:spPr>
          <a:xfrm>
            <a:off x="786384" y="960120"/>
            <a:ext cx="6400800" cy="1371600"/>
          </a:xfrm>
          <a:prstGeom prst="rect">
            <a:avLst/>
          </a:prstGeom>
          <a:noFill/>
        </p:spPr>
        <p:txBody>
          <a:bodyPr wrap="square" lIns="0" rIns="0" tIns="0" bIns="0">
            <a:spAutoFit/>
          </a:bodyPr>
          <a:lstStyle/>
          <a:p>
            <a:pPr algn="l">
              <a:lnSpc>
                <a:spcPct val="106000"/>
              </a:lnSpc>
              <a:spcAft>
                <a:spcPts val="0"/>
              </a:spcAft>
            </a:pPr>
            <a:r>
              <a:rPr sz="3100" b="1" i="0">
                <a:solidFill>
                  <a:srgbClr val="2B1F5E"/>
                </a:solidFill>
                <a:latin typeface="Arial"/>
              </a:rPr>
              <a:t>Twelve interview coaches</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95728"/>
            <a:ext cx="6309360" cy="102412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2578608"/>
            <a:ext cx="5760720" cy="731520"/>
          </a:xfrm>
          <a:prstGeom prst="rect">
            <a:avLst/>
          </a:prstGeom>
          <a:noFill/>
        </p:spPr>
        <p:txBody>
          <a:bodyPr wrap="square" lIns="0" rIns="0" tIns="0" bIns="0">
            <a:spAutoFit/>
          </a:bodyPr>
          <a:lstStyle/>
          <a:p>
            <a:pPr algn="l">
              <a:lnSpc>
                <a:spcPct val="130000"/>
              </a:lnSpc>
              <a:spcAft>
                <a:spcPts val="0"/>
              </a:spcAft>
            </a:pPr>
            <a:r>
              <a:rPr sz="1350" b="0" i="0">
                <a:solidFill>
                  <a:srgbClr val="3A3A46"/>
                </a:solidFill>
                <a:latin typeface="Arial"/>
              </a:rPr>
              <a:t/>
            </a:r>
            <a:r>
              <a:rPr sz="1350" b="1">
                <a:solidFill>
                  <a:srgbClr val="2B1F5E"/>
                </a:solidFill>
                <a:latin typeface="Arial"/>
              </a:rPr>
              <a:t>One part of the story each</a:t>
            </a:r>
            <a:r>
              <a:rPr sz="1350">
                <a:solidFill>
                  <a:srgbClr val="3A3A46"/>
                </a:solidFill>
                <a:latin typeface="Arial"/>
              </a:rPr>
              <a:t> — introduction, teamwork, safety, equipment, quality.</a:t>
            </a:r>
          </a:p>
        </p:txBody>
      </p:sp>
      <p:sp>
        <p:nvSpPr>
          <p:cNvPr id="8" name="Rounded Rectangle 7"/>
          <p:cNvSpPr/>
          <p:nvPr/>
        </p:nvSpPr>
        <p:spPr>
          <a:xfrm>
            <a:off x="786384" y="3566160"/>
            <a:ext cx="6309360" cy="102412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3749040"/>
            <a:ext cx="5760720" cy="731520"/>
          </a:xfrm>
          <a:prstGeom prst="rect">
            <a:avLst/>
          </a:prstGeom>
          <a:noFill/>
        </p:spPr>
        <p:txBody>
          <a:bodyPr wrap="square" lIns="0" rIns="0" tIns="0" bIns="0">
            <a:spAutoFit/>
          </a:bodyPr>
          <a:lstStyle/>
          <a:p>
            <a:pPr algn="l">
              <a:lnSpc>
                <a:spcPct val="130000"/>
              </a:lnSpc>
              <a:spcAft>
                <a:spcPts val="0"/>
              </a:spcAft>
            </a:pPr>
            <a:r>
              <a:rPr sz="1350" b="0" i="0">
                <a:solidFill>
                  <a:srgbClr val="3A3A46"/>
                </a:solidFill>
                <a:latin typeface="Arial"/>
              </a:rPr>
              <a:t/>
            </a:r>
            <a:r>
              <a:rPr sz="1350" b="1">
                <a:solidFill>
                  <a:srgbClr val="2B1F5E"/>
                </a:solidFill>
                <a:latin typeface="Arial"/>
              </a:rPr>
              <a:t>Repeat any of them</a:t>
            </a:r>
            <a:r>
              <a:rPr sz="1350">
                <a:solidFill>
                  <a:srgbClr val="3A3A46"/>
                </a:solidFill>
                <a:latin typeface="Arial"/>
              </a:rPr>
              <a:t> — as often as they like, no appointment, no tutor.</a:t>
            </a:r>
          </a:p>
        </p:txBody>
      </p:sp>
      <p:sp>
        <p:nvSpPr>
          <p:cNvPr id="10" name="Rounded Rectangle 9"/>
          <p:cNvSpPr/>
          <p:nvPr/>
        </p:nvSpPr>
        <p:spPr>
          <a:xfrm>
            <a:off x="786384" y="4736592"/>
            <a:ext cx="6309360" cy="102412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4919472"/>
            <a:ext cx="5760720" cy="731520"/>
          </a:xfrm>
          <a:prstGeom prst="rect">
            <a:avLst/>
          </a:prstGeom>
          <a:noFill/>
        </p:spPr>
        <p:txBody>
          <a:bodyPr wrap="square" lIns="0" rIns="0" tIns="0" bIns="0">
            <a:spAutoFit/>
          </a:bodyPr>
          <a:lstStyle/>
          <a:p>
            <a:pPr algn="l">
              <a:lnSpc>
                <a:spcPct val="130000"/>
              </a:lnSpc>
              <a:spcAft>
                <a:spcPts val="0"/>
              </a:spcAft>
            </a:pPr>
            <a:r>
              <a:rPr sz="1350" b="0" i="0">
                <a:solidFill>
                  <a:srgbClr val="3A3A46"/>
                </a:solidFill>
                <a:latin typeface="Arial"/>
              </a:rPr>
              <a:t/>
            </a:r>
            <a:r>
              <a:rPr sz="1350" b="1">
                <a:solidFill>
                  <a:srgbClr val="2B1F5E"/>
                </a:solidFill>
                <a:latin typeface="Arial"/>
              </a:rPr>
              <a:t>Plus a CV and LinkedIn coach</a:t>
            </a:r>
            <a:r>
              <a:rPr sz="1350">
                <a:solidFill>
                  <a:srgbClr val="3A3A46"/>
                </a:solidFill>
                <a:latin typeface="Arial"/>
              </a:rPr>
              <a:t> — the summary rewritten to read professionally.</a:t>
            </a:r>
          </a:p>
        </p:txBody>
      </p:sp>
      <p:pic>
        <p:nvPicPr>
          <p:cNvPr id="12" name="Picture 11" descr="phone-coaches.png"/>
          <p:cNvPicPr>
            <a:picLocks noChangeAspect="1"/>
          </p:cNvPicPr>
          <p:nvPr/>
        </p:nvPicPr>
        <p:blipFill>
          <a:blip r:embed="rId4"/>
          <a:stretch>
            <a:fillRect/>
          </a:stretch>
        </p:blipFill>
        <p:spPr>
          <a:xfrm>
            <a:off x="7635240" y="969264"/>
            <a:ext cx="2712455" cy="5120640"/>
          </a:xfrm>
          <a:prstGeom prst="rect">
            <a:avLst/>
          </a:prstGeom>
        </p:spPr>
      </p:pic>
      <p:sp>
        <p:nvSpPr>
          <p:cNvPr id="13" name="TextBox 12"/>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SOMETHING TO SHOW</a:t>
            </a:r>
          </a:p>
        </p:txBody>
      </p:sp>
      <p:sp>
        <p:nvSpPr>
          <p:cNvPr id="4" name="TextBox 3"/>
          <p:cNvSpPr txBox="1"/>
          <p:nvPr/>
        </p:nvSpPr>
        <p:spPr>
          <a:xfrm>
            <a:off x="786384" y="960120"/>
            <a:ext cx="6400800" cy="1371600"/>
          </a:xfrm>
          <a:prstGeom prst="rect">
            <a:avLst/>
          </a:prstGeom>
          <a:noFill/>
        </p:spPr>
        <p:txBody>
          <a:bodyPr wrap="square" lIns="0" rIns="0" tIns="0" bIns="0">
            <a:spAutoFit/>
          </a:bodyPr>
          <a:lstStyle/>
          <a:p>
            <a:pPr algn="l">
              <a:lnSpc>
                <a:spcPct val="106000"/>
              </a:lnSpc>
              <a:spcAft>
                <a:spcPts val="0"/>
              </a:spcAft>
            </a:pPr>
            <a:r>
              <a:rPr sz="3100" b="1" i="0">
                <a:solidFill>
                  <a:srgbClr val="2B1F5E"/>
                </a:solidFill>
                <a:latin typeface="Arial"/>
              </a:rPr>
              <a:t>Evidence, not attendance</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95728"/>
            <a:ext cx="6309360" cy="102412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2578608"/>
            <a:ext cx="5760720" cy="731520"/>
          </a:xfrm>
          <a:prstGeom prst="rect">
            <a:avLst/>
          </a:prstGeom>
          <a:noFill/>
        </p:spPr>
        <p:txBody>
          <a:bodyPr wrap="square" lIns="0" rIns="0" tIns="0" bIns="0">
            <a:spAutoFit/>
          </a:bodyPr>
          <a:lstStyle/>
          <a:p>
            <a:pPr algn="l">
              <a:lnSpc>
                <a:spcPct val="130000"/>
              </a:lnSpc>
              <a:spcAft>
                <a:spcPts val="0"/>
              </a:spcAft>
            </a:pPr>
            <a:r>
              <a:rPr sz="1350" b="0" i="0">
                <a:solidFill>
                  <a:srgbClr val="3A3A46"/>
                </a:solidFill>
                <a:latin typeface="Arial"/>
              </a:rPr>
              <a:t/>
            </a:r>
            <a:r>
              <a:rPr sz="1350" b="1">
                <a:solidFill>
                  <a:srgbClr val="2B1F5E"/>
                </a:solidFill>
                <a:latin typeface="Arial"/>
              </a:rPr>
              <a:t>Answers spoken, coverage, best take</a:t>
            </a:r>
            <a:r>
              <a:rPr sz="1350">
                <a:solidFill>
                  <a:srgbClr val="3A3A46"/>
                </a:solidFill>
                <a:latin typeface="Arial"/>
              </a:rPr>
              <a:t> — and the trade words actually used.</a:t>
            </a:r>
          </a:p>
        </p:txBody>
      </p:sp>
      <p:sp>
        <p:nvSpPr>
          <p:cNvPr id="8" name="Rounded Rectangle 7"/>
          <p:cNvSpPr/>
          <p:nvPr/>
        </p:nvSpPr>
        <p:spPr>
          <a:xfrm>
            <a:off x="786384" y="3566160"/>
            <a:ext cx="6309360" cy="102412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3749040"/>
            <a:ext cx="5760720" cy="731520"/>
          </a:xfrm>
          <a:prstGeom prst="rect">
            <a:avLst/>
          </a:prstGeom>
          <a:noFill/>
        </p:spPr>
        <p:txBody>
          <a:bodyPr wrap="square" lIns="0" rIns="0" tIns="0" bIns="0">
            <a:spAutoFit/>
          </a:bodyPr>
          <a:lstStyle/>
          <a:p>
            <a:pPr algn="l">
              <a:lnSpc>
                <a:spcPct val="130000"/>
              </a:lnSpc>
              <a:spcAft>
                <a:spcPts val="0"/>
              </a:spcAft>
            </a:pPr>
            <a:r>
              <a:rPr sz="1350" b="0" i="0">
                <a:solidFill>
                  <a:srgbClr val="3A3A46"/>
                </a:solidFill>
                <a:latin typeface="Arial"/>
              </a:rPr>
              <a:t/>
            </a:r>
            <a:r>
              <a:rPr sz="1350" b="1">
                <a:solidFill>
                  <a:srgbClr val="2B1F5E"/>
                </a:solidFill>
                <a:latin typeface="Arial"/>
              </a:rPr>
              <a:t>Every figure from speech</a:t>
            </a:r>
            <a:r>
              <a:rPr sz="1350">
                <a:solidFill>
                  <a:srgbClr val="3A3A46"/>
                </a:solidFill>
                <a:latin typeface="Arial"/>
              </a:rPr>
              <a:t> — nothing is scored from opening a screen.</a:t>
            </a:r>
          </a:p>
        </p:txBody>
      </p:sp>
      <p:sp>
        <p:nvSpPr>
          <p:cNvPr id="10" name="Rounded Rectangle 9"/>
          <p:cNvSpPr/>
          <p:nvPr/>
        </p:nvSpPr>
        <p:spPr>
          <a:xfrm>
            <a:off x="786384" y="4736592"/>
            <a:ext cx="6309360" cy="1024128"/>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4919472"/>
            <a:ext cx="5760720" cy="731520"/>
          </a:xfrm>
          <a:prstGeom prst="rect">
            <a:avLst/>
          </a:prstGeom>
          <a:noFill/>
        </p:spPr>
        <p:txBody>
          <a:bodyPr wrap="square" lIns="0" rIns="0" tIns="0" bIns="0">
            <a:spAutoFit/>
          </a:bodyPr>
          <a:lstStyle/>
          <a:p>
            <a:pPr algn="l">
              <a:lnSpc>
                <a:spcPct val="130000"/>
              </a:lnSpc>
              <a:spcAft>
                <a:spcPts val="0"/>
              </a:spcAft>
            </a:pPr>
            <a:r>
              <a:rPr sz="1350" b="0" i="0">
                <a:solidFill>
                  <a:srgbClr val="3A3A46"/>
                </a:solidFill>
                <a:latin typeface="Arial"/>
              </a:rPr>
              <a:t/>
            </a:r>
            <a:r>
              <a:rPr sz="1350" b="1">
                <a:solidFill>
                  <a:srgbClr val="2B1F5E"/>
                </a:solidFill>
                <a:latin typeface="Arial"/>
              </a:rPr>
              <a:t>Per learner</a:t>
            </a:r>
            <a:r>
              <a:rPr sz="1350">
                <a:solidFill>
                  <a:srgbClr val="3A3A46"/>
                </a:solidFill>
                <a:latin typeface="Arial"/>
              </a:rPr>
              <a:t> — which is what makes a pilot measurable at all.</a:t>
            </a:r>
          </a:p>
        </p:txBody>
      </p:sp>
      <p:pic>
        <p:nvPicPr>
          <p:cNvPr id="12" name="Picture 11" descr="phone-career.png"/>
          <p:cNvPicPr>
            <a:picLocks noChangeAspect="1"/>
          </p:cNvPicPr>
          <p:nvPr/>
        </p:nvPicPr>
        <p:blipFill>
          <a:blip r:embed="rId4"/>
          <a:stretch>
            <a:fillRect/>
          </a:stretch>
        </p:blipFill>
        <p:spPr>
          <a:xfrm>
            <a:off x="7635240" y="969264"/>
            <a:ext cx="2712455" cy="5120640"/>
          </a:xfrm>
          <a:prstGeom prst="rect">
            <a:avLst/>
          </a:prstGeom>
        </p:spPr>
      </p:pic>
      <p:sp>
        <p:nvSpPr>
          <p:cNvPr id="13" name="TextBox 12"/>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BEING STRAIGHT ABOUT THE LIMIT</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100" b="1" i="0">
                <a:solidFill>
                  <a:srgbClr val="2B1F5E"/>
                </a:solidFill>
                <a:latin typeface="Arial"/>
              </a:rPr>
              <a:t>Where it fits your catalogue today</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77440"/>
            <a:ext cx="10607040" cy="475488"/>
          </a:xfrm>
          <a:prstGeom prst="roundRect">
            <a:avLst>
              <a:gd name="adj" fmla="val 6000"/>
            </a:avLst>
          </a:prstGeom>
          <a:solidFill>
            <a:srgbClr val="2B1F5E"/>
          </a:solidFill>
          <a:ln w="12700">
            <a:solidFill>
              <a:srgbClr val="2B1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2496312"/>
            <a:ext cx="4572000" cy="274320"/>
          </a:xfrm>
          <a:prstGeom prst="rect">
            <a:avLst/>
          </a:prstGeom>
          <a:noFill/>
        </p:spPr>
        <p:txBody>
          <a:bodyPr wrap="square" lIns="0" rIns="0" tIns="0" bIns="0">
            <a:spAutoFit/>
          </a:bodyPr>
          <a:lstStyle/>
          <a:p>
            <a:pPr algn="l">
              <a:spcAft>
                <a:spcPts val="0"/>
              </a:spcAft>
            </a:pPr>
            <a:r>
              <a:rPr sz="1100" b="1" i="0">
                <a:solidFill>
                  <a:srgbClr val="FFFFFF"/>
                </a:solidFill>
                <a:latin typeface="Arial"/>
              </a:rPr>
              <a:t>YOUR PROGRAMME</a:t>
            </a:r>
          </a:p>
        </p:txBody>
      </p:sp>
      <p:sp>
        <p:nvSpPr>
          <p:cNvPr id="8" name="TextBox 7"/>
          <p:cNvSpPr txBox="1"/>
          <p:nvPr/>
        </p:nvSpPr>
        <p:spPr>
          <a:xfrm>
            <a:off x="5724144" y="2496312"/>
            <a:ext cx="5486400" cy="274320"/>
          </a:xfrm>
          <a:prstGeom prst="rect">
            <a:avLst/>
          </a:prstGeom>
          <a:noFill/>
        </p:spPr>
        <p:txBody>
          <a:bodyPr wrap="square" lIns="0" rIns="0" tIns="0" bIns="0">
            <a:spAutoFit/>
          </a:bodyPr>
          <a:lstStyle/>
          <a:p>
            <a:pPr algn="l">
              <a:spcAft>
                <a:spcPts val="0"/>
              </a:spcAft>
            </a:pPr>
            <a:r>
              <a:rPr sz="1100" b="1" i="0">
                <a:solidFill>
                  <a:srgbClr val="FFFFFF"/>
                </a:solidFill>
                <a:latin typeface="Arial"/>
              </a:rPr>
              <a:t>WHAT THE LEARNER PRACTISES SAYING</a:t>
            </a:r>
          </a:p>
        </p:txBody>
      </p:sp>
      <p:sp>
        <p:nvSpPr>
          <p:cNvPr id="9" name="Rounded Rectangle 8"/>
          <p:cNvSpPr/>
          <p:nvPr/>
        </p:nvSpPr>
        <p:spPr>
          <a:xfrm>
            <a:off x="786384" y="2852928"/>
            <a:ext cx="10607040" cy="658368"/>
          </a:xfrm>
          <a:prstGeom prst="roundRect">
            <a:avLst>
              <a:gd name="adj" fmla="val 6000"/>
            </a:avLst>
          </a:prstGeom>
          <a:solidFill>
            <a:srgbClr val="FFFFFF"/>
          </a:solidFill>
          <a:ln w="12700">
            <a:solidFill>
              <a:srgbClr val="E4E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3035808"/>
            <a:ext cx="4572000" cy="365760"/>
          </a:xfrm>
          <a:prstGeom prst="rect">
            <a:avLst/>
          </a:prstGeom>
          <a:noFill/>
        </p:spPr>
        <p:txBody>
          <a:bodyPr wrap="square" lIns="0" rIns="0" tIns="0" bIns="0">
            <a:spAutoFit/>
          </a:bodyPr>
          <a:lstStyle/>
          <a:p>
            <a:pPr algn="l">
              <a:lnSpc>
                <a:spcPct val="115000"/>
              </a:lnSpc>
              <a:spcAft>
                <a:spcPts val="0"/>
              </a:spcAft>
            </a:pPr>
            <a:r>
              <a:rPr sz="1300" b="1" i="0">
                <a:solidFill>
                  <a:srgbClr val="2B1F5E"/>
                </a:solidFill>
                <a:latin typeface="Arial"/>
              </a:rPr>
              <a:t>Reading &amp; Interpretation of Plans in Boiler Making</a:t>
            </a:r>
          </a:p>
        </p:txBody>
      </p:sp>
      <p:sp>
        <p:nvSpPr>
          <p:cNvPr id="11" name="TextBox 10"/>
          <p:cNvSpPr txBox="1"/>
          <p:nvPr/>
        </p:nvSpPr>
        <p:spPr>
          <a:xfrm>
            <a:off x="5724144" y="3035808"/>
            <a:ext cx="5486400" cy="365760"/>
          </a:xfrm>
          <a:prstGeom prst="rect">
            <a:avLst/>
          </a:prstGeom>
          <a:noFill/>
        </p:spPr>
        <p:txBody>
          <a:bodyPr wrap="square" lIns="0" rIns="0" tIns="0" bIns="0">
            <a:spAutoFit/>
          </a:bodyPr>
          <a:lstStyle/>
          <a:p>
            <a:pPr algn="l">
              <a:lnSpc>
                <a:spcPct val="115000"/>
              </a:lnSpc>
              <a:spcAft>
                <a:spcPts val="0"/>
              </a:spcAft>
            </a:pPr>
            <a:r>
              <a:rPr sz="1300" b="0" i="0">
                <a:solidFill>
                  <a:srgbClr val="3A3A46"/>
                </a:solidFill>
                <a:latin typeface="Arial"/>
              </a:rPr>
              <a:t>Brief a crew from the drawing; clarify a detail with the fabricator</a:t>
            </a:r>
          </a:p>
        </p:txBody>
      </p:sp>
      <p:sp>
        <p:nvSpPr>
          <p:cNvPr id="12" name="Rounded Rectangle 11"/>
          <p:cNvSpPr/>
          <p:nvPr/>
        </p:nvSpPr>
        <p:spPr>
          <a:xfrm>
            <a:off x="786384" y="3511296"/>
            <a:ext cx="10607040" cy="658368"/>
          </a:xfrm>
          <a:prstGeom prst="roundRect">
            <a:avLst>
              <a:gd name="adj" fmla="val 6000"/>
            </a:avLst>
          </a:prstGeom>
          <a:solidFill>
            <a:srgbClr val="F6F5FD"/>
          </a:solidFill>
          <a:ln w="12700">
            <a:solidFill>
              <a:srgbClr val="E4E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3694176"/>
            <a:ext cx="4572000" cy="365760"/>
          </a:xfrm>
          <a:prstGeom prst="rect">
            <a:avLst/>
          </a:prstGeom>
          <a:noFill/>
        </p:spPr>
        <p:txBody>
          <a:bodyPr wrap="square" lIns="0" rIns="0" tIns="0" bIns="0">
            <a:spAutoFit/>
          </a:bodyPr>
          <a:lstStyle/>
          <a:p>
            <a:pPr algn="l">
              <a:lnSpc>
                <a:spcPct val="115000"/>
              </a:lnSpc>
              <a:spcAft>
                <a:spcPts val="0"/>
              </a:spcAft>
            </a:pPr>
            <a:r>
              <a:rPr sz="1300" b="1" i="0">
                <a:solidFill>
                  <a:srgbClr val="2B1F5E"/>
                </a:solidFill>
                <a:latin typeface="Arial"/>
              </a:rPr>
              <a:t>Industrial Piping Supervisor</a:t>
            </a:r>
          </a:p>
        </p:txBody>
      </p:sp>
      <p:sp>
        <p:nvSpPr>
          <p:cNvPr id="14" name="TextBox 13"/>
          <p:cNvSpPr txBox="1"/>
          <p:nvPr/>
        </p:nvSpPr>
        <p:spPr>
          <a:xfrm>
            <a:off x="5724144" y="3694176"/>
            <a:ext cx="5486400" cy="365760"/>
          </a:xfrm>
          <a:prstGeom prst="rect">
            <a:avLst/>
          </a:prstGeom>
          <a:noFill/>
        </p:spPr>
        <p:txBody>
          <a:bodyPr wrap="square" lIns="0" rIns="0" tIns="0" bIns="0">
            <a:spAutoFit/>
          </a:bodyPr>
          <a:lstStyle/>
          <a:p>
            <a:pPr algn="l">
              <a:lnSpc>
                <a:spcPct val="115000"/>
              </a:lnSpc>
              <a:spcAft>
                <a:spcPts val="0"/>
              </a:spcAft>
            </a:pPr>
            <a:r>
              <a:rPr sz="1300" b="0" i="0">
                <a:solidFill>
                  <a:srgbClr val="3A3A46"/>
                </a:solidFill>
                <a:latin typeface="Arial"/>
              </a:rPr>
              <a:t>Walk a contractor through an isometric and confirm the line is right</a:t>
            </a:r>
          </a:p>
        </p:txBody>
      </p:sp>
      <p:sp>
        <p:nvSpPr>
          <p:cNvPr id="15" name="Rounded Rectangle 14"/>
          <p:cNvSpPr/>
          <p:nvPr/>
        </p:nvSpPr>
        <p:spPr>
          <a:xfrm>
            <a:off x="786384" y="4169664"/>
            <a:ext cx="10607040" cy="658368"/>
          </a:xfrm>
          <a:prstGeom prst="roundRect">
            <a:avLst>
              <a:gd name="adj" fmla="val 6000"/>
            </a:avLst>
          </a:prstGeom>
          <a:solidFill>
            <a:srgbClr val="FFFFFF"/>
          </a:solidFill>
          <a:ln w="12700">
            <a:solidFill>
              <a:srgbClr val="E4E1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0704" y="4352544"/>
            <a:ext cx="4572000" cy="365760"/>
          </a:xfrm>
          <a:prstGeom prst="rect">
            <a:avLst/>
          </a:prstGeom>
          <a:noFill/>
        </p:spPr>
        <p:txBody>
          <a:bodyPr wrap="square" lIns="0" rIns="0" tIns="0" bIns="0">
            <a:spAutoFit/>
          </a:bodyPr>
          <a:lstStyle/>
          <a:p>
            <a:pPr algn="l">
              <a:lnSpc>
                <a:spcPct val="115000"/>
              </a:lnSpc>
              <a:spcAft>
                <a:spcPts val="0"/>
              </a:spcAft>
            </a:pPr>
            <a:r>
              <a:rPr sz="1300" b="1" i="0">
                <a:solidFill>
                  <a:srgbClr val="2B1F5E"/>
                </a:solidFill>
                <a:latin typeface="Arial"/>
              </a:rPr>
              <a:t>Welding Production Supervision</a:t>
            </a:r>
          </a:p>
        </p:txBody>
      </p:sp>
      <p:sp>
        <p:nvSpPr>
          <p:cNvPr id="17" name="TextBox 16"/>
          <p:cNvSpPr txBox="1"/>
          <p:nvPr/>
        </p:nvSpPr>
        <p:spPr>
          <a:xfrm>
            <a:off x="5724144" y="4352544"/>
            <a:ext cx="5486400" cy="365760"/>
          </a:xfrm>
          <a:prstGeom prst="rect">
            <a:avLst/>
          </a:prstGeom>
          <a:noFill/>
        </p:spPr>
        <p:txBody>
          <a:bodyPr wrap="square" lIns="0" rIns="0" tIns="0" bIns="0">
            <a:spAutoFit/>
          </a:bodyPr>
          <a:lstStyle/>
          <a:p>
            <a:pPr algn="l">
              <a:lnSpc>
                <a:spcPct val="115000"/>
              </a:lnSpc>
              <a:spcAft>
                <a:spcPts val="0"/>
              </a:spcAft>
            </a:pPr>
            <a:r>
              <a:rPr sz="1300" b="0" i="0">
                <a:solidFill>
                  <a:srgbClr val="3A3A46"/>
                </a:solidFill>
                <a:latin typeface="Arial"/>
              </a:rPr>
              <a:t>Discuss a weld-quality concern with a QA inspector; run a stop-work conversation</a:t>
            </a:r>
          </a:p>
        </p:txBody>
      </p:sp>
      <p:sp>
        <p:nvSpPr>
          <p:cNvPr id="18" name="Rounded Rectangle 17"/>
          <p:cNvSpPr/>
          <p:nvPr/>
        </p:nvSpPr>
        <p:spPr>
          <a:xfrm>
            <a:off x="786384" y="5138928"/>
            <a:ext cx="10607040" cy="960120"/>
          </a:xfrm>
          <a:prstGeom prst="roundRect">
            <a:avLst>
              <a:gd name="adj" fmla="val 6000"/>
            </a:avLst>
          </a:prstGeom>
          <a:solidFill>
            <a:srgbClr val="FFF7E3"/>
          </a:solidFill>
          <a:ln w="12700">
            <a:solidFill>
              <a:srgbClr val="F0DF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992" y="5303520"/>
            <a:ext cx="10058400" cy="731520"/>
          </a:xfrm>
          <a:prstGeom prst="rect">
            <a:avLst/>
          </a:prstGeom>
          <a:noFill/>
        </p:spPr>
        <p:txBody>
          <a:bodyPr wrap="square" lIns="0" rIns="0" tIns="0" bIns="0">
            <a:spAutoFit/>
          </a:bodyPr>
          <a:lstStyle/>
          <a:p>
            <a:pPr algn="l">
              <a:spcAft>
                <a:spcPts val="400"/>
              </a:spcAft>
            </a:pPr>
            <a:r>
              <a:rPr sz="1100" b="1" i="0">
                <a:solidFill>
                  <a:srgbClr val="8A630B"/>
                </a:solidFill>
                <a:latin typeface="Arial"/>
              </a:rPr>
              <a:t>NOT YET BUILT</a:t>
            </a:r>
          </a:p>
          <a:p>
            <a:pPr algn="l">
              <a:lnSpc>
                <a:spcPct val="125000"/>
              </a:lnSpc>
              <a:spcAft>
                <a:spcPts val="0"/>
              </a:spcAft>
            </a:pPr>
            <a:r>
              <a:rPr sz="1350" b="1" i="0">
                <a:solidFill>
                  <a:srgbClr val="2B1F5E"/>
                </a:solidFill>
                <a:latin typeface="Arial"/>
              </a:rPr>
              <a:t>Electrical, civil, instrumentation, renewable energy, metal structures, storage tanks. The pilot decides which one is built next — and you choose it.</a:t>
            </a:r>
          </a:p>
        </p:txBody>
      </p:sp>
      <p:sp>
        <p:nvSpPr>
          <p:cNvPr id="20" name="TextBox 19"/>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dar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1371600"/>
            <a:ext cx="10058400" cy="1097280"/>
          </a:xfrm>
          <a:prstGeom prst="rect">
            <a:avLst/>
          </a:prstGeom>
          <a:noFill/>
        </p:spPr>
        <p:txBody>
          <a:bodyPr wrap="square" lIns="0" rIns="0" tIns="0" bIns="0">
            <a:spAutoFit/>
          </a:bodyPr>
          <a:lstStyle/>
          <a:p>
            <a:pPr algn="l">
              <a:spcAft>
                <a:spcPts val="1400"/>
              </a:spcAft>
            </a:pPr>
            <a:r>
              <a:rPr sz="1300" b="1" i="0">
                <a:solidFill>
                  <a:srgbClr val="A798FF"/>
                </a:solidFill>
                <a:latin typeface="Arial"/>
              </a:rPr>
              <a:t>THE PROPOSAL</a:t>
            </a:r>
          </a:p>
          <a:p>
            <a:pPr algn="l">
              <a:lnSpc>
                <a:spcPct val="105000"/>
              </a:lnSpc>
              <a:spcAft>
                <a:spcPts val="0"/>
              </a:spcAft>
            </a:pPr>
            <a:r>
              <a:rPr sz="4000" b="1" i="0">
                <a:solidFill>
                  <a:srgbClr val="FFFFFF"/>
                </a:solidFill>
                <a:latin typeface="Arial"/>
              </a:rPr>
              <a:t>One cohort. Four weeks. Free.</a:t>
            </a:r>
          </a:p>
        </p:txBody>
      </p:sp>
      <p:sp>
        <p:nvSpPr>
          <p:cNvPr id="4" name="Rounded Rectangle 3"/>
          <p:cNvSpPr/>
          <p:nvPr/>
        </p:nvSpPr>
        <p:spPr>
          <a:xfrm>
            <a:off x="786384" y="3063240"/>
            <a:ext cx="2432304" cy="1371600"/>
          </a:xfrm>
          <a:prstGeom prst="roundRect">
            <a:avLst>
              <a:gd name="adj" fmla="val 6000"/>
            </a:avLst>
          </a:prstGeom>
          <a:solidFill>
            <a:srgbClr val="3A2C78"/>
          </a:solidFill>
          <a:ln w="12700">
            <a:solidFill>
              <a:srgbClr val="6B59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3273552"/>
            <a:ext cx="2432304" cy="640080"/>
          </a:xfrm>
          <a:prstGeom prst="rect">
            <a:avLst/>
          </a:prstGeom>
          <a:noFill/>
        </p:spPr>
        <p:txBody>
          <a:bodyPr wrap="square" lIns="0" rIns="0" tIns="0" bIns="0">
            <a:spAutoFit/>
          </a:bodyPr>
          <a:lstStyle/>
          <a:p>
            <a:pPr algn="ctr">
              <a:spcAft>
                <a:spcPts val="200"/>
              </a:spcAft>
            </a:pPr>
            <a:r>
              <a:rPr sz="3200" b="1" i="0">
                <a:solidFill>
                  <a:srgbClr val="A798FF"/>
                </a:solidFill>
                <a:latin typeface="Arial"/>
              </a:rPr>
              <a:t>20–30</a:t>
            </a:r>
          </a:p>
        </p:txBody>
      </p:sp>
      <p:sp>
        <p:nvSpPr>
          <p:cNvPr id="6" name="TextBox 5"/>
          <p:cNvSpPr txBox="1"/>
          <p:nvPr/>
        </p:nvSpPr>
        <p:spPr>
          <a:xfrm>
            <a:off x="786384" y="3913632"/>
            <a:ext cx="2432304" cy="320040"/>
          </a:xfrm>
          <a:prstGeom prst="rect">
            <a:avLst/>
          </a:prstGeom>
          <a:noFill/>
        </p:spPr>
        <p:txBody>
          <a:bodyPr wrap="square" lIns="0" rIns="0" tIns="0" bIns="0">
            <a:spAutoFit/>
          </a:bodyPr>
          <a:lstStyle/>
          <a:p>
            <a:pPr algn="ctr">
              <a:spcAft>
                <a:spcPts val="0"/>
              </a:spcAft>
            </a:pPr>
            <a:r>
              <a:rPr sz="1150" b="1" i="0">
                <a:solidFill>
                  <a:srgbClr val="FFFFFF"/>
                </a:solidFill>
                <a:latin typeface="Arial"/>
              </a:rPr>
              <a:t>LEARNERS</a:t>
            </a:r>
          </a:p>
        </p:txBody>
      </p:sp>
      <p:sp>
        <p:nvSpPr>
          <p:cNvPr id="7" name="Rounded Rectangle 6"/>
          <p:cNvSpPr/>
          <p:nvPr/>
        </p:nvSpPr>
        <p:spPr>
          <a:xfrm>
            <a:off x="3493008" y="3063240"/>
            <a:ext cx="2432304" cy="1371600"/>
          </a:xfrm>
          <a:prstGeom prst="roundRect">
            <a:avLst>
              <a:gd name="adj" fmla="val 6000"/>
            </a:avLst>
          </a:prstGeom>
          <a:solidFill>
            <a:srgbClr val="3A2C78"/>
          </a:solidFill>
          <a:ln w="12700">
            <a:solidFill>
              <a:srgbClr val="6B59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93008" y="3273552"/>
            <a:ext cx="2432304" cy="640080"/>
          </a:xfrm>
          <a:prstGeom prst="rect">
            <a:avLst/>
          </a:prstGeom>
          <a:noFill/>
        </p:spPr>
        <p:txBody>
          <a:bodyPr wrap="square" lIns="0" rIns="0" tIns="0" bIns="0">
            <a:spAutoFit/>
          </a:bodyPr>
          <a:lstStyle/>
          <a:p>
            <a:pPr algn="ctr">
              <a:spcAft>
                <a:spcPts val="200"/>
              </a:spcAft>
            </a:pPr>
            <a:r>
              <a:rPr sz="3200" b="1" i="0">
                <a:solidFill>
                  <a:srgbClr val="A798FF"/>
                </a:solidFill>
                <a:latin typeface="Arial"/>
              </a:rPr>
              <a:t>4</a:t>
            </a:r>
          </a:p>
        </p:txBody>
      </p:sp>
      <p:sp>
        <p:nvSpPr>
          <p:cNvPr id="9" name="TextBox 8"/>
          <p:cNvSpPr txBox="1"/>
          <p:nvPr/>
        </p:nvSpPr>
        <p:spPr>
          <a:xfrm>
            <a:off x="3493008" y="3913632"/>
            <a:ext cx="2432304" cy="320040"/>
          </a:xfrm>
          <a:prstGeom prst="rect">
            <a:avLst/>
          </a:prstGeom>
          <a:noFill/>
        </p:spPr>
        <p:txBody>
          <a:bodyPr wrap="square" lIns="0" rIns="0" tIns="0" bIns="0">
            <a:spAutoFit/>
          </a:bodyPr>
          <a:lstStyle/>
          <a:p>
            <a:pPr algn="ctr">
              <a:spcAft>
                <a:spcPts val="0"/>
              </a:spcAft>
            </a:pPr>
            <a:r>
              <a:rPr sz="1150" b="1" i="0">
                <a:solidFill>
                  <a:srgbClr val="FFFFFF"/>
                </a:solidFill>
                <a:latin typeface="Arial"/>
              </a:rPr>
              <a:t>WEEKS</a:t>
            </a:r>
          </a:p>
        </p:txBody>
      </p:sp>
      <p:sp>
        <p:nvSpPr>
          <p:cNvPr id="10" name="Rounded Rectangle 9"/>
          <p:cNvSpPr/>
          <p:nvPr/>
        </p:nvSpPr>
        <p:spPr>
          <a:xfrm>
            <a:off x="6199632" y="3063240"/>
            <a:ext cx="2432304" cy="1371600"/>
          </a:xfrm>
          <a:prstGeom prst="roundRect">
            <a:avLst>
              <a:gd name="adj" fmla="val 6000"/>
            </a:avLst>
          </a:prstGeom>
          <a:solidFill>
            <a:srgbClr val="3A2C78"/>
          </a:solidFill>
          <a:ln w="12700">
            <a:solidFill>
              <a:srgbClr val="6B59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99632" y="3273552"/>
            <a:ext cx="2432304" cy="640080"/>
          </a:xfrm>
          <a:prstGeom prst="rect">
            <a:avLst/>
          </a:prstGeom>
          <a:noFill/>
        </p:spPr>
        <p:txBody>
          <a:bodyPr wrap="square" lIns="0" rIns="0" tIns="0" bIns="0">
            <a:spAutoFit/>
          </a:bodyPr>
          <a:lstStyle/>
          <a:p>
            <a:pPr algn="ctr">
              <a:spcAft>
                <a:spcPts val="200"/>
              </a:spcAft>
            </a:pPr>
            <a:r>
              <a:rPr sz="3200" b="1" i="0">
                <a:solidFill>
                  <a:srgbClr val="A798FF"/>
                </a:solidFill>
                <a:latin typeface="Arial"/>
              </a:rPr>
              <a:t>1</a:t>
            </a:r>
          </a:p>
        </p:txBody>
      </p:sp>
      <p:sp>
        <p:nvSpPr>
          <p:cNvPr id="12" name="TextBox 11"/>
          <p:cNvSpPr txBox="1"/>
          <p:nvPr/>
        </p:nvSpPr>
        <p:spPr>
          <a:xfrm>
            <a:off x="6199632" y="3913632"/>
            <a:ext cx="2432304" cy="320040"/>
          </a:xfrm>
          <a:prstGeom prst="rect">
            <a:avLst/>
          </a:prstGeom>
          <a:noFill/>
        </p:spPr>
        <p:txBody>
          <a:bodyPr wrap="square" lIns="0" rIns="0" tIns="0" bIns="0">
            <a:spAutoFit/>
          </a:bodyPr>
          <a:lstStyle/>
          <a:p>
            <a:pPr algn="ctr">
              <a:spcAft>
                <a:spcPts val="0"/>
              </a:spcAft>
            </a:pPr>
            <a:r>
              <a:rPr sz="1150" b="1" i="0">
                <a:solidFill>
                  <a:srgbClr val="FFFFFF"/>
                </a:solidFill>
                <a:latin typeface="Arial"/>
              </a:rPr>
              <a:t>PATHWAY</a:t>
            </a:r>
          </a:p>
        </p:txBody>
      </p:sp>
      <p:sp>
        <p:nvSpPr>
          <p:cNvPr id="13" name="Rounded Rectangle 12"/>
          <p:cNvSpPr/>
          <p:nvPr/>
        </p:nvSpPr>
        <p:spPr>
          <a:xfrm>
            <a:off x="8906256" y="3063240"/>
            <a:ext cx="2432304" cy="1371600"/>
          </a:xfrm>
          <a:prstGeom prst="roundRect">
            <a:avLst>
              <a:gd name="adj" fmla="val 6000"/>
            </a:avLst>
          </a:prstGeom>
          <a:solidFill>
            <a:srgbClr val="3A2C78"/>
          </a:solidFill>
          <a:ln w="12700">
            <a:solidFill>
              <a:srgbClr val="6B59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06256" y="3273552"/>
            <a:ext cx="2432304" cy="640080"/>
          </a:xfrm>
          <a:prstGeom prst="rect">
            <a:avLst/>
          </a:prstGeom>
          <a:noFill/>
        </p:spPr>
        <p:txBody>
          <a:bodyPr wrap="square" lIns="0" rIns="0" tIns="0" bIns="0">
            <a:spAutoFit/>
          </a:bodyPr>
          <a:lstStyle/>
          <a:p>
            <a:pPr algn="ctr">
              <a:spcAft>
                <a:spcPts val="200"/>
              </a:spcAft>
            </a:pPr>
            <a:r>
              <a:rPr sz="3200" b="1" i="0">
                <a:solidFill>
                  <a:srgbClr val="A798FF"/>
                </a:solidFill>
                <a:latin typeface="Arial"/>
              </a:rPr>
              <a:t>$0</a:t>
            </a:r>
          </a:p>
        </p:txBody>
      </p:sp>
      <p:sp>
        <p:nvSpPr>
          <p:cNvPr id="15" name="TextBox 14"/>
          <p:cNvSpPr txBox="1"/>
          <p:nvPr/>
        </p:nvSpPr>
        <p:spPr>
          <a:xfrm>
            <a:off x="8906256" y="3913632"/>
            <a:ext cx="2432304" cy="320040"/>
          </a:xfrm>
          <a:prstGeom prst="rect">
            <a:avLst/>
          </a:prstGeom>
          <a:noFill/>
        </p:spPr>
        <p:txBody>
          <a:bodyPr wrap="square" lIns="0" rIns="0" tIns="0" bIns="0">
            <a:spAutoFit/>
          </a:bodyPr>
          <a:lstStyle/>
          <a:p>
            <a:pPr algn="ctr">
              <a:spcAft>
                <a:spcPts val="0"/>
              </a:spcAft>
            </a:pPr>
            <a:r>
              <a:rPr sz="1150" b="1" i="0">
                <a:solidFill>
                  <a:srgbClr val="FFFFFF"/>
                </a:solidFill>
                <a:latin typeface="Arial"/>
              </a:rPr>
              <a:t>COST TO YOU</a:t>
            </a:r>
          </a:p>
        </p:txBody>
      </p:sp>
      <p:sp>
        <p:nvSpPr>
          <p:cNvPr id="16" name="TextBox 15"/>
          <p:cNvSpPr txBox="1"/>
          <p:nvPr/>
        </p:nvSpPr>
        <p:spPr>
          <a:xfrm>
            <a:off x="786384" y="4828032"/>
            <a:ext cx="10607040" cy="1097280"/>
          </a:xfrm>
          <a:prstGeom prst="rect">
            <a:avLst/>
          </a:prstGeom>
          <a:noFill/>
        </p:spPr>
        <p:txBody>
          <a:bodyPr wrap="square" lIns="0" rIns="0" tIns="0" bIns="0">
            <a:spAutoFit/>
          </a:bodyPr>
          <a:lstStyle/>
          <a:p>
            <a:pPr algn="l">
              <a:lnSpc>
                <a:spcPct val="135000"/>
              </a:lnSpc>
              <a:spcAft>
                <a:spcPts val="0"/>
              </a:spcAft>
            </a:pPr>
            <a:r>
              <a:rPr sz="1600" b="0" i="0">
                <a:solidFill>
                  <a:srgbClr val="CBC3F5"/>
                </a:solidFill>
                <a:latin typeface="Arial"/>
              </a:rPr>
              <a:t>Nothing is published without your written approval. No licence discussion until the pilot has produced a result we both believe.</a:t>
            </a:r>
          </a:p>
        </p:txBody>
      </p:sp>
      <p:sp>
        <p:nvSpPr>
          <p:cNvPr id="17" name="TextBox 16"/>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CBC3F5"/>
                </a:solidFill>
                <a:latin typeface="Arial"/>
              </a:rPr>
              <a:t>app.lomonec.com  ·  contact@lomonec.com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HOW IT RUNS</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200" b="1" i="0">
                <a:solidFill>
                  <a:srgbClr val="2B1F5E"/>
                </a:solidFill>
                <a:latin typeface="Arial"/>
              </a:rPr>
              <a:t>Who does what</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77440"/>
            <a:ext cx="5120640" cy="3246120"/>
          </a:xfrm>
          <a:prstGeom prst="roundRect">
            <a:avLst>
              <a:gd name="adj" fmla="val 6000"/>
            </a:avLst>
          </a:prstGeom>
          <a:solidFill>
            <a:srgbClr val="EFEDFB"/>
          </a:solidFill>
          <a:ln w="12700">
            <a:solidFill>
              <a:srgbClr val="D6D0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578608"/>
            <a:ext cx="4572000" cy="274320"/>
          </a:xfrm>
          <a:prstGeom prst="rect">
            <a:avLst/>
          </a:prstGeom>
          <a:noFill/>
        </p:spPr>
        <p:txBody>
          <a:bodyPr wrap="square" lIns="0" rIns="0" tIns="0" bIns="0">
            <a:spAutoFit/>
          </a:bodyPr>
          <a:lstStyle/>
          <a:p>
            <a:pPr algn="l">
              <a:spcAft>
                <a:spcPts val="0"/>
              </a:spcAft>
            </a:pPr>
            <a:r>
              <a:rPr sz="1150" b="1" i="0">
                <a:solidFill>
                  <a:srgbClr val="4A32DC"/>
                </a:solidFill>
                <a:latin typeface="Arial"/>
              </a:rPr>
              <a:t>PETROCERTIF PROVIDES</a:t>
            </a:r>
          </a:p>
        </p:txBody>
      </p:sp>
      <p:sp>
        <p:nvSpPr>
          <p:cNvPr id="8" name="TextBox 7"/>
          <p:cNvSpPr txBox="1"/>
          <p:nvPr/>
        </p:nvSpPr>
        <p:spPr>
          <a:xfrm>
            <a:off x="1078992" y="297180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One cohort — </a:t>
            </a:r>
            <a:r>
              <a:rPr sz="1300">
                <a:solidFill>
                  <a:srgbClr val="3A3A46"/>
                </a:solidFill>
                <a:latin typeface="Arial"/>
              </a:rPr>
              <a:t>20–30 learners from the three programmes</a:t>
            </a:r>
          </a:p>
        </p:txBody>
      </p:sp>
      <p:sp>
        <p:nvSpPr>
          <p:cNvPr id="9" name="TextBox 8"/>
          <p:cNvSpPr txBox="1"/>
          <p:nvPr/>
        </p:nvSpPr>
        <p:spPr>
          <a:xfrm>
            <a:off x="1078992" y="361188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One induction slot — </a:t>
            </a:r>
            <a:r>
              <a:rPr sz="1300">
                <a:solidFill>
                  <a:srgbClr val="3A3A46"/>
                </a:solidFill>
                <a:latin typeface="Arial"/>
              </a:rPr>
              <a:t>20 minutes, to introduce the app</a:t>
            </a:r>
          </a:p>
        </p:txBody>
      </p:sp>
      <p:sp>
        <p:nvSpPr>
          <p:cNvPr id="10" name="TextBox 9"/>
          <p:cNvSpPr txBox="1"/>
          <p:nvPr/>
        </p:nvSpPr>
        <p:spPr>
          <a:xfrm>
            <a:off x="1078992" y="425196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Instructor observations — </a:t>
            </a:r>
            <a:r>
              <a:rPr sz="1300">
                <a:solidFill>
                  <a:srgbClr val="3A3A46"/>
                </a:solidFill>
                <a:latin typeface="Arial"/>
              </a:rPr>
              <a:t>what your staff notice in class</a:t>
            </a:r>
          </a:p>
        </p:txBody>
      </p:sp>
      <p:sp>
        <p:nvSpPr>
          <p:cNvPr id="11" name="TextBox 10"/>
          <p:cNvSpPr txBox="1"/>
          <p:nvPr/>
        </p:nvSpPr>
        <p:spPr>
          <a:xfrm>
            <a:off x="1078992" y="489204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Permission — </a:t>
            </a:r>
            <a:r>
              <a:rPr sz="1300">
                <a:solidFill>
                  <a:srgbClr val="3A3A46"/>
                </a:solidFill>
                <a:latin typeface="Arial"/>
              </a:rPr>
              <a:t>to write the result up jointly</a:t>
            </a:r>
          </a:p>
        </p:txBody>
      </p:sp>
      <p:sp>
        <p:nvSpPr>
          <p:cNvPr id="12" name="Rounded Rectangle 11"/>
          <p:cNvSpPr/>
          <p:nvPr/>
        </p:nvSpPr>
        <p:spPr>
          <a:xfrm>
            <a:off x="6272784" y="2377440"/>
            <a:ext cx="5120640" cy="3246120"/>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2578608"/>
            <a:ext cx="4572000" cy="274320"/>
          </a:xfrm>
          <a:prstGeom prst="rect">
            <a:avLst/>
          </a:prstGeom>
          <a:noFill/>
        </p:spPr>
        <p:txBody>
          <a:bodyPr wrap="square" lIns="0" rIns="0" tIns="0" bIns="0">
            <a:spAutoFit/>
          </a:bodyPr>
          <a:lstStyle/>
          <a:p>
            <a:pPr algn="l">
              <a:spcAft>
                <a:spcPts val="0"/>
              </a:spcAft>
            </a:pPr>
            <a:r>
              <a:rPr sz="1150" b="1" i="0">
                <a:solidFill>
                  <a:srgbClr val="4A32DC"/>
                </a:solidFill>
                <a:latin typeface="Arial"/>
              </a:rPr>
              <a:t>BE MASTERY PROVIDES</a:t>
            </a:r>
          </a:p>
        </p:txBody>
      </p:sp>
      <p:sp>
        <p:nvSpPr>
          <p:cNvPr id="14" name="TextBox 13"/>
          <p:cNvSpPr txBox="1"/>
          <p:nvPr/>
        </p:nvSpPr>
        <p:spPr>
          <a:xfrm>
            <a:off x="6565392" y="297180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Full access — </a:t>
            </a:r>
            <a:r>
              <a:rPr sz="1300">
                <a:solidFill>
                  <a:srgbClr val="3A3A46"/>
                </a:solidFill>
                <a:latin typeface="Arial"/>
              </a:rPr>
              <a:t>every learner, free, pilot plus 30 days</a:t>
            </a:r>
          </a:p>
        </p:txBody>
      </p:sp>
      <p:sp>
        <p:nvSpPr>
          <p:cNvPr id="15" name="TextBox 14"/>
          <p:cNvSpPr txBox="1"/>
          <p:nvPr/>
        </p:nvSpPr>
        <p:spPr>
          <a:xfrm>
            <a:off x="6565392" y="361188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Onboarding — </a:t>
            </a:r>
            <a:r>
              <a:rPr sz="1300">
                <a:solidFill>
                  <a:srgbClr val="3A3A46"/>
                </a:solidFill>
                <a:latin typeface="Arial"/>
              </a:rPr>
              <a:t>a short guide in French and English</a:t>
            </a:r>
          </a:p>
        </p:txBody>
      </p:sp>
      <p:sp>
        <p:nvSpPr>
          <p:cNvPr id="16" name="TextBox 15"/>
          <p:cNvSpPr txBox="1"/>
          <p:nvPr/>
        </p:nvSpPr>
        <p:spPr>
          <a:xfrm>
            <a:off x="6565392" y="425196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A weekly figure — </a:t>
            </a:r>
            <a:r>
              <a:rPr sz="1300">
                <a:solidFill>
                  <a:srgbClr val="3A3A46"/>
                </a:solidFill>
                <a:latin typeface="Arial"/>
              </a:rPr>
              <a:t>sent to you — no chasing required</a:t>
            </a:r>
          </a:p>
        </p:txBody>
      </p:sp>
      <p:sp>
        <p:nvSpPr>
          <p:cNvPr id="17" name="TextBox 16"/>
          <p:cNvSpPr txBox="1"/>
          <p:nvPr/>
        </p:nvSpPr>
        <p:spPr>
          <a:xfrm>
            <a:off x="6565392" y="4892040"/>
            <a:ext cx="4535424" cy="566928"/>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
            </a:r>
            <a:r>
              <a:rPr sz="1300" b="1">
                <a:solidFill>
                  <a:srgbClr val="4A32DC"/>
                </a:solidFill>
                <a:latin typeface="Arial"/>
              </a:rPr>
              <a:t>✓  </a:t>
            </a:r>
            <a:r>
              <a:rPr sz="1300" b="1">
                <a:solidFill>
                  <a:srgbClr val="2B1F5E"/>
                </a:solidFill>
                <a:latin typeface="Arial"/>
              </a:rPr>
              <a:t>A closing report — </a:t>
            </a:r>
            <a:r>
              <a:rPr sz="1300">
                <a:solidFill>
                  <a:srgbClr val="3A3A46"/>
                </a:solidFill>
                <a:latin typeface="Arial"/>
              </a:rPr>
              <a:t>yours to show, with its underlying data</a:t>
            </a:r>
          </a:p>
        </p:txBody>
      </p:sp>
      <p:sp>
        <p:nvSpPr>
          <p:cNvPr id="18" name="TextBox 17"/>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WHAT A LEARNER ACTUALLY DOES</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2900" b="1" i="0">
                <a:solidFill>
                  <a:srgbClr val="2B1F5E"/>
                </a:solidFill>
                <a:latin typeface="Arial"/>
              </a:rPr>
              <a:t>Twenty-five minutes a day, on their own phone</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286000"/>
            <a:ext cx="10607040" cy="804672"/>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2487168"/>
            <a:ext cx="1188720" cy="411480"/>
          </a:xfrm>
          <a:prstGeom prst="rect">
            <a:avLst/>
          </a:prstGeom>
          <a:noFill/>
        </p:spPr>
        <p:txBody>
          <a:bodyPr wrap="square" lIns="0" rIns="0" tIns="0" bIns="0">
            <a:spAutoFit/>
          </a:bodyPr>
          <a:lstStyle/>
          <a:p>
            <a:pPr algn="l">
              <a:spcAft>
                <a:spcPts val="0"/>
              </a:spcAft>
            </a:pPr>
            <a:r>
              <a:rPr sz="1700" b="1" i="0">
                <a:solidFill>
                  <a:srgbClr val="4A32DC"/>
                </a:solidFill>
                <a:latin typeface="Arial"/>
              </a:rPr>
              <a:t>5 min</a:t>
            </a:r>
          </a:p>
        </p:txBody>
      </p:sp>
      <p:sp>
        <p:nvSpPr>
          <p:cNvPr id="8" name="TextBox 7"/>
          <p:cNvSpPr txBox="1"/>
          <p:nvPr/>
        </p:nvSpPr>
        <p:spPr>
          <a:xfrm>
            <a:off x="2386584" y="2395728"/>
            <a:ext cx="2834640" cy="548640"/>
          </a:xfrm>
          <a:prstGeom prst="rect">
            <a:avLst/>
          </a:prstGeom>
          <a:noFill/>
        </p:spPr>
        <p:txBody>
          <a:bodyPr wrap="square" lIns="0" rIns="0" tIns="0" bIns="0">
            <a:spAutoFit/>
          </a:bodyPr>
          <a:lstStyle/>
          <a:p>
            <a:pPr algn="l">
              <a:lnSpc>
                <a:spcPct val="115000"/>
              </a:lnSpc>
              <a:spcAft>
                <a:spcPts val="0"/>
              </a:spcAft>
            </a:pPr>
            <a:r>
              <a:rPr sz="1450" b="1" i="0">
                <a:solidFill>
                  <a:srgbClr val="2B1F5E"/>
                </a:solidFill>
                <a:latin typeface="Arial"/>
              </a:rPr>
              <a:t>Shadow</a:t>
            </a:r>
          </a:p>
        </p:txBody>
      </p:sp>
      <p:sp>
        <p:nvSpPr>
          <p:cNvPr id="9" name="TextBox 8"/>
          <p:cNvSpPr txBox="1"/>
          <p:nvPr/>
        </p:nvSpPr>
        <p:spPr>
          <a:xfrm>
            <a:off x="5221224" y="2450592"/>
            <a:ext cx="5943600" cy="548640"/>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Loop a short clip of a real speaker and copy the rhythm out loud.</a:t>
            </a:r>
          </a:p>
        </p:txBody>
      </p:sp>
      <p:sp>
        <p:nvSpPr>
          <p:cNvPr id="10" name="Rounded Rectangle 9"/>
          <p:cNvSpPr/>
          <p:nvPr/>
        </p:nvSpPr>
        <p:spPr>
          <a:xfrm>
            <a:off x="786384" y="3191256"/>
            <a:ext cx="10607040" cy="804672"/>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3392424"/>
            <a:ext cx="1188720" cy="411480"/>
          </a:xfrm>
          <a:prstGeom prst="rect">
            <a:avLst/>
          </a:prstGeom>
          <a:noFill/>
        </p:spPr>
        <p:txBody>
          <a:bodyPr wrap="square" lIns="0" rIns="0" tIns="0" bIns="0">
            <a:spAutoFit/>
          </a:bodyPr>
          <a:lstStyle/>
          <a:p>
            <a:pPr algn="l">
              <a:spcAft>
                <a:spcPts val="0"/>
              </a:spcAft>
            </a:pPr>
            <a:r>
              <a:rPr sz="1700" b="1" i="0">
                <a:solidFill>
                  <a:srgbClr val="4A32DC"/>
                </a:solidFill>
                <a:latin typeface="Arial"/>
              </a:rPr>
              <a:t>10 min</a:t>
            </a:r>
          </a:p>
        </p:txBody>
      </p:sp>
      <p:sp>
        <p:nvSpPr>
          <p:cNvPr id="12" name="TextBox 11"/>
          <p:cNvSpPr txBox="1"/>
          <p:nvPr/>
        </p:nvSpPr>
        <p:spPr>
          <a:xfrm>
            <a:off x="2386584" y="3300984"/>
            <a:ext cx="2834640" cy="548640"/>
          </a:xfrm>
          <a:prstGeom prst="rect">
            <a:avLst/>
          </a:prstGeom>
          <a:noFill/>
        </p:spPr>
        <p:txBody>
          <a:bodyPr wrap="square" lIns="0" rIns="0" tIns="0" bIns="0">
            <a:spAutoFit/>
          </a:bodyPr>
          <a:lstStyle/>
          <a:p>
            <a:pPr algn="l">
              <a:lnSpc>
                <a:spcPct val="115000"/>
              </a:lnSpc>
              <a:spcAft>
                <a:spcPts val="0"/>
              </a:spcAft>
            </a:pPr>
            <a:r>
              <a:rPr sz="1450" b="1" i="0">
                <a:solidFill>
                  <a:srgbClr val="2B1F5E"/>
                </a:solidFill>
                <a:latin typeface="Arial"/>
              </a:rPr>
              <a:t>Today's session</a:t>
            </a:r>
          </a:p>
        </p:txBody>
      </p:sp>
      <p:sp>
        <p:nvSpPr>
          <p:cNvPr id="13" name="TextBox 12"/>
          <p:cNvSpPr txBox="1"/>
          <p:nvPr/>
        </p:nvSpPr>
        <p:spPr>
          <a:xfrm>
            <a:off x="5221224" y="3355848"/>
            <a:ext cx="5943600" cy="548640"/>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The prepared daily session — pronunciation, a speaking drill, or a meeting simulation.</a:t>
            </a:r>
          </a:p>
        </p:txBody>
      </p:sp>
      <p:sp>
        <p:nvSpPr>
          <p:cNvPr id="14" name="Rounded Rectangle 13"/>
          <p:cNvSpPr/>
          <p:nvPr/>
        </p:nvSpPr>
        <p:spPr>
          <a:xfrm>
            <a:off x="786384" y="4096512"/>
            <a:ext cx="10607040" cy="804672"/>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0704" y="4297680"/>
            <a:ext cx="1188720" cy="411480"/>
          </a:xfrm>
          <a:prstGeom prst="rect">
            <a:avLst/>
          </a:prstGeom>
          <a:noFill/>
        </p:spPr>
        <p:txBody>
          <a:bodyPr wrap="square" lIns="0" rIns="0" tIns="0" bIns="0">
            <a:spAutoFit/>
          </a:bodyPr>
          <a:lstStyle/>
          <a:p>
            <a:pPr algn="l">
              <a:spcAft>
                <a:spcPts val="0"/>
              </a:spcAft>
            </a:pPr>
            <a:r>
              <a:rPr sz="1700" b="1" i="0">
                <a:solidFill>
                  <a:srgbClr val="4A32DC"/>
                </a:solidFill>
                <a:latin typeface="Arial"/>
              </a:rPr>
              <a:t>7 min</a:t>
            </a:r>
          </a:p>
        </p:txBody>
      </p:sp>
      <p:sp>
        <p:nvSpPr>
          <p:cNvPr id="16" name="TextBox 15"/>
          <p:cNvSpPr txBox="1"/>
          <p:nvPr/>
        </p:nvSpPr>
        <p:spPr>
          <a:xfrm>
            <a:off x="2386584" y="4206240"/>
            <a:ext cx="2834640" cy="548640"/>
          </a:xfrm>
          <a:prstGeom prst="rect">
            <a:avLst/>
          </a:prstGeom>
          <a:noFill/>
        </p:spPr>
        <p:txBody>
          <a:bodyPr wrap="square" lIns="0" rIns="0" tIns="0" bIns="0">
            <a:spAutoFit/>
          </a:bodyPr>
          <a:lstStyle/>
          <a:p>
            <a:pPr algn="l">
              <a:lnSpc>
                <a:spcPct val="115000"/>
              </a:lnSpc>
              <a:spcAft>
                <a:spcPts val="0"/>
              </a:spcAft>
            </a:pPr>
            <a:r>
              <a:rPr sz="1450" b="1" i="0">
                <a:solidFill>
                  <a:srgbClr val="2B1F5E"/>
                </a:solidFill>
                <a:latin typeface="Arial"/>
              </a:rPr>
              <a:t>One workplace conversation</a:t>
            </a:r>
          </a:p>
        </p:txBody>
      </p:sp>
      <p:sp>
        <p:nvSpPr>
          <p:cNvPr id="17" name="TextBox 16"/>
          <p:cNvSpPr txBox="1"/>
          <p:nvPr/>
        </p:nvSpPr>
        <p:spPr>
          <a:xfrm>
            <a:off x="5221224" y="4261104"/>
            <a:ext cx="5943600" cy="548640"/>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Speak with the supervisor, the inspector or HR — and answer out loud.</a:t>
            </a:r>
          </a:p>
        </p:txBody>
      </p:sp>
      <p:sp>
        <p:nvSpPr>
          <p:cNvPr id="18" name="Rounded Rectangle 17"/>
          <p:cNvSpPr/>
          <p:nvPr/>
        </p:nvSpPr>
        <p:spPr>
          <a:xfrm>
            <a:off x="786384" y="5001768"/>
            <a:ext cx="10607040" cy="804672"/>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0704" y="5202936"/>
            <a:ext cx="1188720" cy="411480"/>
          </a:xfrm>
          <a:prstGeom prst="rect">
            <a:avLst/>
          </a:prstGeom>
          <a:noFill/>
        </p:spPr>
        <p:txBody>
          <a:bodyPr wrap="square" lIns="0" rIns="0" tIns="0" bIns="0">
            <a:spAutoFit/>
          </a:bodyPr>
          <a:lstStyle/>
          <a:p>
            <a:pPr algn="l">
              <a:spcAft>
                <a:spcPts val="0"/>
              </a:spcAft>
            </a:pPr>
            <a:r>
              <a:rPr sz="1700" b="1" i="0">
                <a:solidFill>
                  <a:srgbClr val="4A32DC"/>
                </a:solidFill>
                <a:latin typeface="Arial"/>
              </a:rPr>
              <a:t>3 min</a:t>
            </a:r>
          </a:p>
        </p:txBody>
      </p:sp>
      <p:sp>
        <p:nvSpPr>
          <p:cNvPr id="20" name="TextBox 19"/>
          <p:cNvSpPr txBox="1"/>
          <p:nvPr/>
        </p:nvSpPr>
        <p:spPr>
          <a:xfrm>
            <a:off x="2386584" y="5111496"/>
            <a:ext cx="2834640" cy="548640"/>
          </a:xfrm>
          <a:prstGeom prst="rect">
            <a:avLst/>
          </a:prstGeom>
          <a:noFill/>
        </p:spPr>
        <p:txBody>
          <a:bodyPr wrap="square" lIns="0" rIns="0" tIns="0" bIns="0">
            <a:spAutoFit/>
          </a:bodyPr>
          <a:lstStyle/>
          <a:p>
            <a:pPr algn="l">
              <a:lnSpc>
                <a:spcPct val="115000"/>
              </a:lnSpc>
              <a:spcAft>
                <a:spcPts val="0"/>
              </a:spcAft>
            </a:pPr>
            <a:r>
              <a:rPr sz="1450" b="1" i="0">
                <a:solidFill>
                  <a:srgbClr val="2B1F5E"/>
                </a:solidFill>
                <a:latin typeface="Arial"/>
              </a:rPr>
              <a:t>Read the report</a:t>
            </a:r>
          </a:p>
        </p:txBody>
      </p:sp>
      <p:sp>
        <p:nvSpPr>
          <p:cNvPr id="21" name="TextBox 20"/>
          <p:cNvSpPr txBox="1"/>
          <p:nvPr/>
        </p:nvSpPr>
        <p:spPr>
          <a:xfrm>
            <a:off x="5221224" y="5166360"/>
            <a:ext cx="5943600" cy="548640"/>
          </a:xfrm>
          <a:prstGeom prst="rect">
            <a:avLst/>
          </a:prstGeom>
          <a:noFill/>
        </p:spPr>
        <p:txBody>
          <a:bodyPr wrap="square" lIns="0" rIns="0" tIns="0" bIns="0">
            <a:spAutoFit/>
          </a:bodyPr>
          <a:lstStyle/>
          <a:p>
            <a:pPr algn="l">
              <a:lnSpc>
                <a:spcPct val="125000"/>
              </a:lnSpc>
              <a:spcAft>
                <a:spcPts val="0"/>
              </a:spcAft>
            </a:pPr>
            <a:r>
              <a:rPr sz="1300" b="0" i="0">
                <a:solidFill>
                  <a:srgbClr val="3A3A46"/>
                </a:solidFill>
                <a:latin typeface="Arial"/>
              </a:rPr>
              <a:t>What was covered, what was missed, and the sentence that would have carried it.</a:t>
            </a:r>
          </a:p>
        </p:txBody>
      </p:sp>
      <p:sp>
        <p:nvSpPr>
          <p:cNvPr id="22" name="TextBox 21"/>
          <p:cNvSpPr txBox="1"/>
          <p:nvPr/>
        </p:nvSpPr>
        <p:spPr>
          <a:xfrm>
            <a:off x="786384" y="5870448"/>
            <a:ext cx="10607040" cy="365760"/>
          </a:xfrm>
          <a:prstGeom prst="rect">
            <a:avLst/>
          </a:prstGeom>
          <a:noFill/>
        </p:spPr>
        <p:txBody>
          <a:bodyPr wrap="square" lIns="0" rIns="0" tIns="0" bIns="0">
            <a:spAutoFit/>
          </a:bodyPr>
          <a:lstStyle/>
          <a:p>
            <a:pPr algn="l">
              <a:spcAft>
                <a:spcPts val="0"/>
              </a:spcAft>
            </a:pPr>
            <a:r>
              <a:rPr sz="1350" b="1" i="0">
                <a:solidFill>
                  <a:srgbClr val="6B7083"/>
                </a:solidFill>
                <a:latin typeface="Arial"/>
              </a:rPr>
              <a:t>About 10 hours across the four weeks — in their own time, no timetable, no classroom.</a:t>
            </a:r>
          </a:p>
        </p:txBody>
      </p:sp>
      <p:sp>
        <p:nvSpPr>
          <p:cNvPr id="23" name="TextBox 22"/>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THE FOUR WEEKS</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200" b="1" i="0">
                <a:solidFill>
                  <a:srgbClr val="2B1F5E"/>
                </a:solidFill>
                <a:latin typeface="Arial"/>
              </a:rPr>
              <a:t>Baseline, practice, measure again</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423160"/>
            <a:ext cx="2487168" cy="3017520"/>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633472"/>
            <a:ext cx="2103120" cy="274320"/>
          </a:xfrm>
          <a:prstGeom prst="rect">
            <a:avLst/>
          </a:prstGeom>
          <a:noFill/>
        </p:spPr>
        <p:txBody>
          <a:bodyPr wrap="square" lIns="0" rIns="0" tIns="0" bIns="0">
            <a:spAutoFit/>
          </a:bodyPr>
          <a:lstStyle/>
          <a:p>
            <a:pPr algn="l">
              <a:spcAft>
                <a:spcPts val="0"/>
              </a:spcAft>
            </a:pPr>
            <a:r>
              <a:rPr sz="1150" b="1" i="0">
                <a:solidFill>
                  <a:srgbClr val="4A32DC"/>
                </a:solidFill>
                <a:latin typeface="Arial"/>
              </a:rPr>
              <a:t>WEEK 1</a:t>
            </a:r>
          </a:p>
        </p:txBody>
      </p:sp>
      <p:sp>
        <p:nvSpPr>
          <p:cNvPr id="8" name="TextBox 7"/>
          <p:cNvSpPr txBox="1"/>
          <p:nvPr/>
        </p:nvSpPr>
        <p:spPr>
          <a:xfrm>
            <a:off x="1024128" y="2971800"/>
            <a:ext cx="2103120" cy="640080"/>
          </a:xfrm>
          <a:prstGeom prst="rect">
            <a:avLst/>
          </a:prstGeom>
          <a:noFill/>
        </p:spPr>
        <p:txBody>
          <a:bodyPr wrap="square" lIns="0" rIns="0" tIns="0" bIns="0">
            <a:spAutoFit/>
          </a:bodyPr>
          <a:lstStyle/>
          <a:p>
            <a:pPr algn="l">
              <a:lnSpc>
                <a:spcPct val="112000"/>
              </a:lnSpc>
              <a:spcAft>
                <a:spcPts val="0"/>
              </a:spcAft>
            </a:pPr>
            <a:r>
              <a:rPr sz="1500" b="1" i="0">
                <a:solidFill>
                  <a:srgbClr val="2B1F5E"/>
                </a:solidFill>
                <a:latin typeface="Arial"/>
              </a:rPr>
              <a:t>Set up and baseline</a:t>
            </a:r>
          </a:p>
        </p:txBody>
      </p:sp>
      <p:sp>
        <p:nvSpPr>
          <p:cNvPr id="9" name="TextBox 8"/>
          <p:cNvSpPr txBox="1"/>
          <p:nvPr/>
        </p:nvSpPr>
        <p:spPr>
          <a:xfrm>
            <a:off x="1024128" y="3703320"/>
            <a:ext cx="2103120" cy="1554480"/>
          </a:xfrm>
          <a:prstGeom prst="rect">
            <a:avLst/>
          </a:prstGeom>
          <a:noFill/>
        </p:spPr>
        <p:txBody>
          <a:bodyPr wrap="square" lIns="0" rIns="0" tIns="0" bIns="0">
            <a:spAutoFit/>
          </a:bodyPr>
          <a:lstStyle/>
          <a:p>
            <a:pPr algn="l">
              <a:lnSpc>
                <a:spcPct val="130000"/>
              </a:lnSpc>
              <a:spcAft>
                <a:spcPts val="0"/>
              </a:spcAft>
            </a:pPr>
            <a:r>
              <a:rPr sz="1200" b="0" i="0">
                <a:solidFill>
                  <a:srgbClr val="3A3A46"/>
                </a:solidFill>
                <a:latin typeface="Arial"/>
              </a:rPr>
              <a:t>Induction, accounts created, and every learner records one answer before any practice. That recording is the before.</a:t>
            </a:r>
          </a:p>
        </p:txBody>
      </p:sp>
      <p:sp>
        <p:nvSpPr>
          <p:cNvPr id="10" name="Rounded Rectangle 9"/>
          <p:cNvSpPr/>
          <p:nvPr/>
        </p:nvSpPr>
        <p:spPr>
          <a:xfrm>
            <a:off x="3456432" y="2423160"/>
            <a:ext cx="2487168" cy="3017520"/>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94176" y="2633472"/>
            <a:ext cx="2103120" cy="274320"/>
          </a:xfrm>
          <a:prstGeom prst="rect">
            <a:avLst/>
          </a:prstGeom>
          <a:noFill/>
        </p:spPr>
        <p:txBody>
          <a:bodyPr wrap="square" lIns="0" rIns="0" tIns="0" bIns="0">
            <a:spAutoFit/>
          </a:bodyPr>
          <a:lstStyle/>
          <a:p>
            <a:pPr algn="l">
              <a:spcAft>
                <a:spcPts val="0"/>
              </a:spcAft>
            </a:pPr>
            <a:r>
              <a:rPr sz="1150" b="1" i="0">
                <a:solidFill>
                  <a:srgbClr val="4A32DC"/>
                </a:solidFill>
                <a:latin typeface="Arial"/>
              </a:rPr>
              <a:t>WEEKS 2–3</a:t>
            </a:r>
          </a:p>
        </p:txBody>
      </p:sp>
      <p:sp>
        <p:nvSpPr>
          <p:cNvPr id="12" name="TextBox 11"/>
          <p:cNvSpPr txBox="1"/>
          <p:nvPr/>
        </p:nvSpPr>
        <p:spPr>
          <a:xfrm>
            <a:off x="3694176" y="2971800"/>
            <a:ext cx="2103120" cy="640080"/>
          </a:xfrm>
          <a:prstGeom prst="rect">
            <a:avLst/>
          </a:prstGeom>
          <a:noFill/>
        </p:spPr>
        <p:txBody>
          <a:bodyPr wrap="square" lIns="0" rIns="0" tIns="0" bIns="0">
            <a:spAutoFit/>
          </a:bodyPr>
          <a:lstStyle/>
          <a:p>
            <a:pPr algn="l">
              <a:lnSpc>
                <a:spcPct val="112000"/>
              </a:lnSpc>
              <a:spcAft>
                <a:spcPts val="0"/>
              </a:spcAft>
            </a:pPr>
            <a:r>
              <a:rPr sz="1500" b="1" i="0">
                <a:solidFill>
                  <a:srgbClr val="2B1F5E"/>
                </a:solidFill>
                <a:latin typeface="Arial"/>
              </a:rPr>
              <a:t>Practice</a:t>
            </a:r>
          </a:p>
        </p:txBody>
      </p:sp>
      <p:sp>
        <p:nvSpPr>
          <p:cNvPr id="13" name="TextBox 12"/>
          <p:cNvSpPr txBox="1"/>
          <p:nvPr/>
        </p:nvSpPr>
        <p:spPr>
          <a:xfrm>
            <a:off x="3694176" y="3703320"/>
            <a:ext cx="2103120" cy="1554480"/>
          </a:xfrm>
          <a:prstGeom prst="rect">
            <a:avLst/>
          </a:prstGeom>
          <a:noFill/>
        </p:spPr>
        <p:txBody>
          <a:bodyPr wrap="square" lIns="0" rIns="0" tIns="0" bIns="0">
            <a:spAutoFit/>
          </a:bodyPr>
          <a:lstStyle/>
          <a:p>
            <a:pPr algn="l">
              <a:lnSpc>
                <a:spcPct val="130000"/>
              </a:lnSpc>
              <a:spcAft>
                <a:spcPts val="0"/>
              </a:spcAft>
            </a:pPr>
            <a:r>
              <a:rPr sz="1200" b="0" i="0">
                <a:solidFill>
                  <a:srgbClr val="3A3A46"/>
                </a:solidFill>
                <a:latin typeface="Arial"/>
              </a:rPr>
              <a:t>Learners work in their own time. A weekly figure comes to you. I chase nobody through you.</a:t>
            </a:r>
          </a:p>
        </p:txBody>
      </p:sp>
      <p:sp>
        <p:nvSpPr>
          <p:cNvPr id="14" name="Rounded Rectangle 13"/>
          <p:cNvSpPr/>
          <p:nvPr/>
        </p:nvSpPr>
        <p:spPr>
          <a:xfrm>
            <a:off x="6126480" y="2423160"/>
            <a:ext cx="2487168" cy="3017520"/>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2633472"/>
            <a:ext cx="2103120" cy="274320"/>
          </a:xfrm>
          <a:prstGeom prst="rect">
            <a:avLst/>
          </a:prstGeom>
          <a:noFill/>
        </p:spPr>
        <p:txBody>
          <a:bodyPr wrap="square" lIns="0" rIns="0" tIns="0" bIns="0">
            <a:spAutoFit/>
          </a:bodyPr>
          <a:lstStyle/>
          <a:p>
            <a:pPr algn="l">
              <a:spcAft>
                <a:spcPts val="0"/>
              </a:spcAft>
            </a:pPr>
            <a:r>
              <a:rPr sz="1150" b="1" i="0">
                <a:solidFill>
                  <a:srgbClr val="4A32DC"/>
                </a:solidFill>
                <a:latin typeface="Arial"/>
              </a:rPr>
              <a:t>WEEK 4</a:t>
            </a:r>
          </a:p>
        </p:txBody>
      </p:sp>
      <p:sp>
        <p:nvSpPr>
          <p:cNvPr id="16" name="TextBox 15"/>
          <p:cNvSpPr txBox="1"/>
          <p:nvPr/>
        </p:nvSpPr>
        <p:spPr>
          <a:xfrm>
            <a:off x="6364224" y="2971800"/>
            <a:ext cx="2103120" cy="640080"/>
          </a:xfrm>
          <a:prstGeom prst="rect">
            <a:avLst/>
          </a:prstGeom>
          <a:noFill/>
        </p:spPr>
        <p:txBody>
          <a:bodyPr wrap="square" lIns="0" rIns="0" tIns="0" bIns="0">
            <a:spAutoFit/>
          </a:bodyPr>
          <a:lstStyle/>
          <a:p>
            <a:pPr algn="l">
              <a:lnSpc>
                <a:spcPct val="112000"/>
              </a:lnSpc>
              <a:spcAft>
                <a:spcPts val="0"/>
              </a:spcAft>
            </a:pPr>
            <a:r>
              <a:rPr sz="1500" b="1" i="0">
                <a:solidFill>
                  <a:srgbClr val="2B1F5E"/>
                </a:solidFill>
                <a:latin typeface="Arial"/>
              </a:rPr>
              <a:t>Measure again</a:t>
            </a:r>
          </a:p>
        </p:txBody>
      </p:sp>
      <p:sp>
        <p:nvSpPr>
          <p:cNvPr id="17" name="TextBox 16"/>
          <p:cNvSpPr txBox="1"/>
          <p:nvPr/>
        </p:nvSpPr>
        <p:spPr>
          <a:xfrm>
            <a:off x="6364224" y="3703320"/>
            <a:ext cx="2103120" cy="1554480"/>
          </a:xfrm>
          <a:prstGeom prst="rect">
            <a:avLst/>
          </a:prstGeom>
          <a:noFill/>
        </p:spPr>
        <p:txBody>
          <a:bodyPr wrap="square" lIns="0" rIns="0" tIns="0" bIns="0">
            <a:spAutoFit/>
          </a:bodyPr>
          <a:lstStyle/>
          <a:p>
            <a:pPr algn="l">
              <a:lnSpc>
                <a:spcPct val="130000"/>
              </a:lnSpc>
              <a:spcAft>
                <a:spcPts val="0"/>
              </a:spcAft>
            </a:pPr>
            <a:r>
              <a:rPr sz="1200" b="0" i="0">
                <a:solidFill>
                  <a:srgbClr val="3A3A46"/>
                </a:solidFill>
                <a:latin typeface="Arial"/>
              </a:rPr>
              <a:t>Interview simulations, the same measurement as week one, plus learner and instructor feedback.</a:t>
            </a:r>
          </a:p>
        </p:txBody>
      </p:sp>
      <p:sp>
        <p:nvSpPr>
          <p:cNvPr id="18" name="Rounded Rectangle 17"/>
          <p:cNvSpPr/>
          <p:nvPr/>
        </p:nvSpPr>
        <p:spPr>
          <a:xfrm>
            <a:off x="8796528" y="2423160"/>
            <a:ext cx="2487168" cy="3017520"/>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34272" y="2633472"/>
            <a:ext cx="2103120" cy="274320"/>
          </a:xfrm>
          <a:prstGeom prst="rect">
            <a:avLst/>
          </a:prstGeom>
          <a:noFill/>
        </p:spPr>
        <p:txBody>
          <a:bodyPr wrap="square" lIns="0" rIns="0" tIns="0" bIns="0">
            <a:spAutoFit/>
          </a:bodyPr>
          <a:lstStyle/>
          <a:p>
            <a:pPr algn="l">
              <a:spcAft>
                <a:spcPts val="0"/>
              </a:spcAft>
            </a:pPr>
            <a:r>
              <a:rPr sz="1150" b="1" i="0">
                <a:solidFill>
                  <a:srgbClr val="4A32DC"/>
                </a:solidFill>
                <a:latin typeface="Arial"/>
              </a:rPr>
              <a:t>AFTER</a:t>
            </a:r>
          </a:p>
        </p:txBody>
      </p:sp>
      <p:sp>
        <p:nvSpPr>
          <p:cNvPr id="20" name="TextBox 19"/>
          <p:cNvSpPr txBox="1"/>
          <p:nvPr/>
        </p:nvSpPr>
        <p:spPr>
          <a:xfrm>
            <a:off x="9034272" y="2971800"/>
            <a:ext cx="2103120" cy="640080"/>
          </a:xfrm>
          <a:prstGeom prst="rect">
            <a:avLst/>
          </a:prstGeom>
          <a:noFill/>
        </p:spPr>
        <p:txBody>
          <a:bodyPr wrap="square" lIns="0" rIns="0" tIns="0" bIns="0">
            <a:spAutoFit/>
          </a:bodyPr>
          <a:lstStyle/>
          <a:p>
            <a:pPr algn="l">
              <a:lnSpc>
                <a:spcPct val="112000"/>
              </a:lnSpc>
              <a:spcAft>
                <a:spcPts val="0"/>
              </a:spcAft>
            </a:pPr>
            <a:r>
              <a:rPr sz="1500" b="1" i="0">
                <a:solidFill>
                  <a:srgbClr val="2B1F5E"/>
                </a:solidFill>
                <a:latin typeface="Arial"/>
              </a:rPr>
              <a:t>Joint report</a:t>
            </a:r>
          </a:p>
        </p:txBody>
      </p:sp>
      <p:sp>
        <p:nvSpPr>
          <p:cNvPr id="21" name="TextBox 20"/>
          <p:cNvSpPr txBox="1"/>
          <p:nvPr/>
        </p:nvSpPr>
        <p:spPr>
          <a:xfrm>
            <a:off x="9034272" y="3703320"/>
            <a:ext cx="2103120" cy="1554480"/>
          </a:xfrm>
          <a:prstGeom prst="rect">
            <a:avLst/>
          </a:prstGeom>
          <a:noFill/>
        </p:spPr>
        <p:txBody>
          <a:bodyPr wrap="square" lIns="0" rIns="0" tIns="0" bIns="0">
            <a:spAutoFit/>
          </a:bodyPr>
          <a:lstStyle/>
          <a:p>
            <a:pPr algn="l">
              <a:lnSpc>
                <a:spcPct val="130000"/>
              </a:lnSpc>
              <a:spcAft>
                <a:spcPts val="0"/>
              </a:spcAft>
            </a:pPr>
            <a:r>
              <a:rPr sz="1200" b="0" i="0">
                <a:solidFill>
                  <a:srgbClr val="3A3A46"/>
                </a:solidFill>
                <a:latin typeface="Arial"/>
              </a:rPr>
              <a:t>Written up together. Nothing published without your written approval.</a:t>
            </a:r>
          </a:p>
        </p:txBody>
      </p:sp>
      <p:sp>
        <p:nvSpPr>
          <p:cNvPr id="22" name="TextBox 21"/>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AGREED BEFORE WE START, NOT AFTER</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200" b="1" i="0">
                <a:solidFill>
                  <a:srgbClr val="2B1F5E"/>
                </a:solidFill>
                <a:latin typeface="Arial"/>
              </a:rPr>
              <a:t>The seven things we report</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77440"/>
            <a:ext cx="5120640" cy="786384"/>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2514600"/>
            <a:ext cx="4572000" cy="548640"/>
          </a:xfrm>
          <a:prstGeom prst="rect">
            <a:avLst/>
          </a:prstGeom>
          <a:noFill/>
        </p:spPr>
        <p:txBody>
          <a:bodyPr wrap="square" lIns="0" rIns="0" tIns="0" bIns="0">
            <a:spAutoFit/>
          </a:bodyPr>
          <a:lstStyle/>
          <a:p>
            <a:pPr algn="l">
              <a:lnSpc>
                <a:spcPct val="110000"/>
              </a:lnSpc>
              <a:spcAft>
                <a:spcPts val="200"/>
              </a:spcAft>
            </a:pPr>
            <a:r>
              <a:rPr sz="1400" b="1" i="0">
                <a:solidFill>
                  <a:srgbClr val="2B1F5E"/>
                </a:solidFill>
                <a:latin typeface="Arial"/>
              </a:rPr>
              <a:t>Activation</a:t>
            </a:r>
          </a:p>
          <a:p>
            <a:pPr algn="l">
              <a:lnSpc>
                <a:spcPct val="115000"/>
              </a:lnSpc>
              <a:spcAft>
                <a:spcPts val="0"/>
              </a:spcAft>
            </a:pPr>
            <a:r>
              <a:rPr sz="1200" b="0" i="0">
                <a:solidFill>
                  <a:srgbClr val="6B7083"/>
                </a:solidFill>
                <a:latin typeface="Arial"/>
              </a:rPr>
              <a:t>learners who start and finish setup</a:t>
            </a:r>
          </a:p>
        </p:txBody>
      </p:sp>
      <p:sp>
        <p:nvSpPr>
          <p:cNvPr id="8" name="Rounded Rectangle 7"/>
          <p:cNvSpPr/>
          <p:nvPr/>
        </p:nvSpPr>
        <p:spPr>
          <a:xfrm>
            <a:off x="6272784" y="2377440"/>
            <a:ext cx="5120640" cy="786384"/>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47104" y="2514600"/>
            <a:ext cx="4572000" cy="548640"/>
          </a:xfrm>
          <a:prstGeom prst="rect">
            <a:avLst/>
          </a:prstGeom>
          <a:noFill/>
        </p:spPr>
        <p:txBody>
          <a:bodyPr wrap="square" lIns="0" rIns="0" tIns="0" bIns="0">
            <a:spAutoFit/>
          </a:bodyPr>
          <a:lstStyle/>
          <a:p>
            <a:pPr algn="l">
              <a:lnSpc>
                <a:spcPct val="110000"/>
              </a:lnSpc>
              <a:spcAft>
                <a:spcPts val="200"/>
              </a:spcAft>
            </a:pPr>
            <a:r>
              <a:rPr sz="1400" b="1" i="0">
                <a:solidFill>
                  <a:srgbClr val="2B1F5E"/>
                </a:solidFill>
                <a:latin typeface="Arial"/>
              </a:rPr>
              <a:t>Participation</a:t>
            </a:r>
          </a:p>
          <a:p>
            <a:pPr algn="l">
              <a:lnSpc>
                <a:spcPct val="115000"/>
              </a:lnSpc>
              <a:spcAft>
                <a:spcPts val="0"/>
              </a:spcAft>
            </a:pPr>
            <a:r>
              <a:rPr sz="1200" b="0" i="0">
                <a:solidFill>
                  <a:srgbClr val="6B7083"/>
                </a:solidFill>
                <a:latin typeface="Arial"/>
              </a:rPr>
              <a:t>learners active across the four weeks</a:t>
            </a:r>
          </a:p>
        </p:txBody>
      </p:sp>
      <p:sp>
        <p:nvSpPr>
          <p:cNvPr id="10" name="Rounded Rectangle 9"/>
          <p:cNvSpPr/>
          <p:nvPr/>
        </p:nvSpPr>
        <p:spPr>
          <a:xfrm>
            <a:off x="786384" y="3273552"/>
            <a:ext cx="5120640" cy="786384"/>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3410712"/>
            <a:ext cx="4572000" cy="548640"/>
          </a:xfrm>
          <a:prstGeom prst="rect">
            <a:avLst/>
          </a:prstGeom>
          <a:noFill/>
        </p:spPr>
        <p:txBody>
          <a:bodyPr wrap="square" lIns="0" rIns="0" tIns="0" bIns="0">
            <a:spAutoFit/>
          </a:bodyPr>
          <a:lstStyle/>
          <a:p>
            <a:pPr algn="l">
              <a:lnSpc>
                <a:spcPct val="110000"/>
              </a:lnSpc>
              <a:spcAft>
                <a:spcPts val="200"/>
              </a:spcAft>
            </a:pPr>
            <a:r>
              <a:rPr sz="1400" b="1" i="0">
                <a:solidFill>
                  <a:srgbClr val="2B1F5E"/>
                </a:solidFill>
                <a:latin typeface="Arial"/>
              </a:rPr>
              <a:t>Speaking activities</a:t>
            </a:r>
          </a:p>
          <a:p>
            <a:pPr algn="l">
              <a:lnSpc>
                <a:spcPct val="115000"/>
              </a:lnSpc>
              <a:spcAft>
                <a:spcPts val="0"/>
              </a:spcAft>
            </a:pPr>
            <a:r>
              <a:rPr sz="1200" b="0" i="0">
                <a:solidFill>
                  <a:srgbClr val="6B7083"/>
                </a:solidFill>
                <a:latin typeface="Arial"/>
              </a:rPr>
              <a:t>workplace scenarios completed</a:t>
            </a:r>
          </a:p>
        </p:txBody>
      </p:sp>
      <p:sp>
        <p:nvSpPr>
          <p:cNvPr id="12" name="Rounded Rectangle 11"/>
          <p:cNvSpPr/>
          <p:nvPr/>
        </p:nvSpPr>
        <p:spPr>
          <a:xfrm>
            <a:off x="6272784" y="3273552"/>
            <a:ext cx="5120640" cy="786384"/>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47104" y="3410712"/>
            <a:ext cx="4572000" cy="548640"/>
          </a:xfrm>
          <a:prstGeom prst="rect">
            <a:avLst/>
          </a:prstGeom>
          <a:noFill/>
        </p:spPr>
        <p:txBody>
          <a:bodyPr wrap="square" lIns="0" rIns="0" tIns="0" bIns="0">
            <a:spAutoFit/>
          </a:bodyPr>
          <a:lstStyle/>
          <a:p>
            <a:pPr algn="l">
              <a:lnSpc>
                <a:spcPct val="110000"/>
              </a:lnSpc>
              <a:spcAft>
                <a:spcPts val="200"/>
              </a:spcAft>
            </a:pPr>
            <a:r>
              <a:rPr sz="1400" b="1" i="0">
                <a:solidFill>
                  <a:srgbClr val="2B1F5E"/>
                </a:solidFill>
                <a:latin typeface="Arial"/>
              </a:rPr>
              <a:t>Recurring usage</a:t>
            </a:r>
          </a:p>
          <a:p>
            <a:pPr algn="l">
              <a:lnSpc>
                <a:spcPct val="115000"/>
              </a:lnSpc>
              <a:spcAft>
                <a:spcPts val="0"/>
              </a:spcAft>
            </a:pPr>
            <a:r>
              <a:rPr sz="1200" b="0" i="0">
                <a:solidFill>
                  <a:srgbClr val="6B7083"/>
                </a:solidFill>
                <a:latin typeface="Arial"/>
              </a:rPr>
              <a:t>learners returning week on week</a:t>
            </a:r>
          </a:p>
        </p:txBody>
      </p:sp>
      <p:sp>
        <p:nvSpPr>
          <p:cNvPr id="14" name="Rounded Rectangle 13"/>
          <p:cNvSpPr/>
          <p:nvPr/>
        </p:nvSpPr>
        <p:spPr>
          <a:xfrm>
            <a:off x="786384" y="4169664"/>
            <a:ext cx="5120640" cy="786384"/>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0704" y="4306824"/>
            <a:ext cx="4572000" cy="548640"/>
          </a:xfrm>
          <a:prstGeom prst="rect">
            <a:avLst/>
          </a:prstGeom>
          <a:noFill/>
        </p:spPr>
        <p:txBody>
          <a:bodyPr wrap="square" lIns="0" rIns="0" tIns="0" bIns="0">
            <a:spAutoFit/>
          </a:bodyPr>
          <a:lstStyle/>
          <a:p>
            <a:pPr algn="l">
              <a:lnSpc>
                <a:spcPct val="110000"/>
              </a:lnSpc>
              <a:spcAft>
                <a:spcPts val="200"/>
              </a:spcAft>
            </a:pPr>
            <a:r>
              <a:rPr sz="1400" b="1" i="0">
                <a:solidFill>
                  <a:srgbClr val="2B1F5E"/>
                </a:solidFill>
                <a:latin typeface="Arial"/>
              </a:rPr>
              <a:t>Learner feedback</a:t>
            </a:r>
          </a:p>
          <a:p>
            <a:pPr algn="l">
              <a:lnSpc>
                <a:spcPct val="115000"/>
              </a:lnSpc>
              <a:spcAft>
                <a:spcPts val="0"/>
              </a:spcAft>
            </a:pPr>
            <a:r>
              <a:rPr sz="1200" b="0" i="0">
                <a:solidFill>
                  <a:srgbClr val="6B7083"/>
                </a:solidFill>
                <a:latin typeface="Arial"/>
              </a:rPr>
              <a:t>confidence, and whether it felt useful</a:t>
            </a:r>
          </a:p>
        </p:txBody>
      </p:sp>
      <p:sp>
        <p:nvSpPr>
          <p:cNvPr id="16" name="Rounded Rectangle 15"/>
          <p:cNvSpPr/>
          <p:nvPr/>
        </p:nvSpPr>
        <p:spPr>
          <a:xfrm>
            <a:off x="6272784" y="4169664"/>
            <a:ext cx="5120640" cy="786384"/>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47104" y="4306824"/>
            <a:ext cx="4572000" cy="548640"/>
          </a:xfrm>
          <a:prstGeom prst="rect">
            <a:avLst/>
          </a:prstGeom>
          <a:noFill/>
        </p:spPr>
        <p:txBody>
          <a:bodyPr wrap="square" lIns="0" rIns="0" tIns="0" bIns="0">
            <a:spAutoFit/>
          </a:bodyPr>
          <a:lstStyle/>
          <a:p>
            <a:pPr algn="l">
              <a:lnSpc>
                <a:spcPct val="110000"/>
              </a:lnSpc>
              <a:spcAft>
                <a:spcPts val="200"/>
              </a:spcAft>
            </a:pPr>
            <a:r>
              <a:rPr sz="1400" b="1" i="0">
                <a:solidFill>
                  <a:srgbClr val="2B1F5E"/>
                </a:solidFill>
                <a:latin typeface="Arial"/>
              </a:rPr>
              <a:t>Coverage change</a:t>
            </a:r>
          </a:p>
          <a:p>
            <a:pPr algn="l">
              <a:lnSpc>
                <a:spcPct val="115000"/>
              </a:lnSpc>
              <a:spcAft>
                <a:spcPts val="0"/>
              </a:spcAft>
            </a:pPr>
            <a:r>
              <a:rPr sz="1200" b="0" i="0">
                <a:solidFill>
                  <a:srgbClr val="6B7083"/>
                </a:solidFill>
                <a:latin typeface="Arial"/>
              </a:rPr>
              <a:t>first recorded answer against last</a:t>
            </a:r>
          </a:p>
        </p:txBody>
      </p:sp>
      <p:sp>
        <p:nvSpPr>
          <p:cNvPr id="18" name="Rounded Rectangle 17"/>
          <p:cNvSpPr/>
          <p:nvPr/>
        </p:nvSpPr>
        <p:spPr>
          <a:xfrm>
            <a:off x="786384" y="5065776"/>
            <a:ext cx="5120640" cy="786384"/>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0704" y="5202936"/>
            <a:ext cx="4572000" cy="548640"/>
          </a:xfrm>
          <a:prstGeom prst="rect">
            <a:avLst/>
          </a:prstGeom>
          <a:noFill/>
        </p:spPr>
        <p:txBody>
          <a:bodyPr wrap="square" lIns="0" rIns="0" tIns="0" bIns="0">
            <a:spAutoFit/>
          </a:bodyPr>
          <a:lstStyle/>
          <a:p>
            <a:pPr algn="l">
              <a:lnSpc>
                <a:spcPct val="110000"/>
              </a:lnSpc>
              <a:spcAft>
                <a:spcPts val="200"/>
              </a:spcAft>
            </a:pPr>
            <a:r>
              <a:rPr sz="1400" b="1" i="0">
                <a:solidFill>
                  <a:srgbClr val="2B1F5E"/>
                </a:solidFill>
                <a:latin typeface="Arial"/>
              </a:rPr>
              <a:t>Instructor observations</a:t>
            </a:r>
          </a:p>
          <a:p>
            <a:pPr algn="l">
              <a:lnSpc>
                <a:spcPct val="115000"/>
              </a:lnSpc>
              <a:spcAft>
                <a:spcPts val="0"/>
              </a:spcAft>
            </a:pPr>
            <a:r>
              <a:rPr sz="1200" b="0" i="0">
                <a:solidFill>
                  <a:srgbClr val="6B7083"/>
                </a:solidFill>
                <a:latin typeface="Arial"/>
              </a:rPr>
              <a:t>what your staff notice in class</a:t>
            </a:r>
          </a:p>
        </p:txBody>
      </p:sp>
      <p:sp>
        <p:nvSpPr>
          <p:cNvPr id="20" name="Rounded Rectangle 19"/>
          <p:cNvSpPr/>
          <p:nvPr/>
        </p:nvSpPr>
        <p:spPr>
          <a:xfrm>
            <a:off x="6272784" y="5065776"/>
            <a:ext cx="5120640" cy="786384"/>
          </a:xfrm>
          <a:prstGeom prst="roundRect">
            <a:avLst>
              <a:gd name="adj" fmla="val 6000"/>
            </a:avLst>
          </a:prstGeom>
          <a:solidFill>
            <a:srgbClr val="EAF6F0"/>
          </a:solidFill>
          <a:ln w="12700">
            <a:solidFill>
              <a:srgbClr val="BFE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47104" y="5202936"/>
            <a:ext cx="4572000" cy="548640"/>
          </a:xfrm>
          <a:prstGeom prst="rect">
            <a:avLst/>
          </a:prstGeom>
          <a:noFill/>
        </p:spPr>
        <p:txBody>
          <a:bodyPr wrap="square" lIns="0" rIns="0" tIns="0" bIns="0">
            <a:spAutoFit/>
          </a:bodyPr>
          <a:lstStyle/>
          <a:p>
            <a:pPr algn="l">
              <a:lnSpc>
                <a:spcPct val="110000"/>
              </a:lnSpc>
              <a:spcAft>
                <a:spcPts val="200"/>
              </a:spcAft>
            </a:pPr>
            <a:r>
              <a:rPr sz="1400" b="1" i="0">
                <a:solidFill>
                  <a:srgbClr val="1D6B46"/>
                </a:solidFill>
                <a:latin typeface="Arial"/>
              </a:rPr>
              <a:t>Want an eighth?</a:t>
            </a:r>
          </a:p>
          <a:p>
            <a:pPr algn="l">
              <a:lnSpc>
                <a:spcPct val="115000"/>
              </a:lnSpc>
              <a:spcAft>
                <a:spcPts val="0"/>
              </a:spcAft>
            </a:pPr>
            <a:r>
              <a:rPr sz="1200" b="0" i="0">
                <a:solidFill>
                  <a:srgbClr val="1D6B46"/>
                </a:solidFill>
                <a:latin typeface="Arial"/>
              </a:rPr>
              <a:t>Add it now, not in week four.</a:t>
            </a:r>
          </a:p>
        </p:txBody>
      </p:sp>
      <p:sp>
        <p:nvSpPr>
          <p:cNvPr id="22" name="TextBox 21"/>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A32B2B"/>
                </a:solidFill>
                <a:latin typeface="Arial"/>
              </a:rPr>
              <a:t>SCOPE AND INTEGRITY</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200" b="1" i="0">
                <a:solidFill>
                  <a:srgbClr val="2B1F5E"/>
                </a:solidFill>
                <a:latin typeface="Arial"/>
              </a:rPr>
              <a:t>What this is not</a:t>
            </a:r>
          </a:p>
        </p:txBody>
      </p:sp>
      <p:sp>
        <p:nvSpPr>
          <p:cNvPr id="5" name="Rectangle 4"/>
          <p:cNvSpPr/>
          <p:nvPr/>
        </p:nvSpPr>
        <p:spPr>
          <a:xfrm>
            <a:off x="786384" y="1938528"/>
            <a:ext cx="1828800" cy="44450"/>
          </a:xfrm>
          <a:prstGeom prst="rect">
            <a:avLst/>
          </a:prstGeom>
          <a:solidFill>
            <a:srgbClr val="A3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77440"/>
            <a:ext cx="10607040" cy="1078992"/>
          </a:xfrm>
          <a:prstGeom prst="roundRect">
            <a:avLst>
              <a:gd name="adj" fmla="val 6000"/>
            </a:avLst>
          </a:prstGeom>
          <a:solidFill>
            <a:srgbClr val="FDEEEE"/>
          </a:solidFill>
          <a:ln w="12700">
            <a:solidFill>
              <a:srgbClr val="F2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578608"/>
            <a:ext cx="10058400" cy="777240"/>
          </a:xfrm>
          <a:prstGeom prst="rect">
            <a:avLst/>
          </a:prstGeom>
          <a:noFill/>
        </p:spPr>
        <p:txBody>
          <a:bodyPr wrap="square" lIns="0" rIns="0" tIns="0" bIns="0">
            <a:spAutoFit/>
          </a:bodyPr>
          <a:lstStyle/>
          <a:p>
            <a:pPr algn="l">
              <a:lnSpc>
                <a:spcPct val="110000"/>
              </a:lnSpc>
              <a:spcAft>
                <a:spcPts val="300"/>
              </a:spcAft>
            </a:pPr>
            <a:r>
              <a:rPr sz="1500" b="1" i="0">
                <a:solidFill>
                  <a:srgbClr val="2B1F5E"/>
                </a:solidFill>
                <a:latin typeface="Arial"/>
              </a:rPr>
              <a:t>Not a trade qualification</a:t>
            </a:r>
          </a:p>
          <a:p>
            <a:pPr algn="l">
              <a:lnSpc>
                <a:spcPct val="128000"/>
              </a:lnSpc>
              <a:spcAft>
                <a:spcPts val="0"/>
              </a:spcAft>
            </a:pPr>
            <a:r>
              <a:rPr sz="1250" b="0" i="0">
                <a:solidFill>
                  <a:srgbClr val="3A3A46"/>
                </a:solidFill>
                <a:latin typeface="Arial"/>
              </a:rPr>
              <a:t>It does not certify that anyone can weld, and never claims to. AWS, ASME, IIW and your own assessments are untouched.</a:t>
            </a:r>
          </a:p>
        </p:txBody>
      </p:sp>
      <p:sp>
        <p:nvSpPr>
          <p:cNvPr id="8" name="Rounded Rectangle 7"/>
          <p:cNvSpPr/>
          <p:nvPr/>
        </p:nvSpPr>
        <p:spPr>
          <a:xfrm>
            <a:off x="786384" y="3584448"/>
            <a:ext cx="10607040" cy="1078992"/>
          </a:xfrm>
          <a:prstGeom prst="roundRect">
            <a:avLst>
              <a:gd name="adj" fmla="val 6000"/>
            </a:avLst>
          </a:prstGeom>
          <a:solidFill>
            <a:srgbClr val="FDEEEE"/>
          </a:solidFill>
          <a:ln w="12700">
            <a:solidFill>
              <a:srgbClr val="F2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785616"/>
            <a:ext cx="10058400" cy="777240"/>
          </a:xfrm>
          <a:prstGeom prst="rect">
            <a:avLst/>
          </a:prstGeom>
          <a:noFill/>
        </p:spPr>
        <p:txBody>
          <a:bodyPr wrap="square" lIns="0" rIns="0" tIns="0" bIns="0">
            <a:spAutoFit/>
          </a:bodyPr>
          <a:lstStyle/>
          <a:p>
            <a:pPr algn="l">
              <a:lnSpc>
                <a:spcPct val="110000"/>
              </a:lnSpc>
              <a:spcAft>
                <a:spcPts val="300"/>
              </a:spcAft>
            </a:pPr>
            <a:r>
              <a:rPr sz="1500" b="1" i="0">
                <a:solidFill>
                  <a:srgbClr val="2B1F5E"/>
                </a:solidFill>
                <a:latin typeface="Arial"/>
              </a:rPr>
              <a:t>Not an English proficiency certificate</a:t>
            </a:r>
          </a:p>
          <a:p>
            <a:pPr algn="l">
              <a:lnSpc>
                <a:spcPct val="128000"/>
              </a:lnSpc>
              <a:spcAft>
                <a:spcPts val="0"/>
              </a:spcAft>
            </a:pPr>
            <a:r>
              <a:rPr sz="1250" b="0" i="0">
                <a:solidFill>
                  <a:srgbClr val="3A3A46"/>
                </a:solidFill>
                <a:latin typeface="Arial"/>
              </a:rPr>
              <a:t>The certificate is for completing the app's own 84-session programme. It is not IELTS, not a CEFR level, and written English is not assessed at all.</a:t>
            </a:r>
          </a:p>
        </p:txBody>
      </p:sp>
      <p:sp>
        <p:nvSpPr>
          <p:cNvPr id="10" name="Rounded Rectangle 9"/>
          <p:cNvSpPr/>
          <p:nvPr/>
        </p:nvSpPr>
        <p:spPr>
          <a:xfrm>
            <a:off x="786384" y="4791456"/>
            <a:ext cx="10607040" cy="1078992"/>
          </a:xfrm>
          <a:prstGeom prst="roundRect">
            <a:avLst>
              <a:gd name="adj" fmla="val 6000"/>
            </a:avLst>
          </a:prstGeom>
          <a:solidFill>
            <a:srgbClr val="FDEEEE"/>
          </a:solidFill>
          <a:ln w="12700">
            <a:solidFill>
              <a:srgbClr val="F2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92624"/>
            <a:ext cx="10058400" cy="777240"/>
          </a:xfrm>
          <a:prstGeom prst="rect">
            <a:avLst/>
          </a:prstGeom>
          <a:noFill/>
        </p:spPr>
        <p:txBody>
          <a:bodyPr wrap="square" lIns="0" rIns="0" tIns="0" bIns="0">
            <a:spAutoFit/>
          </a:bodyPr>
          <a:lstStyle/>
          <a:p>
            <a:pPr algn="l">
              <a:lnSpc>
                <a:spcPct val="110000"/>
              </a:lnSpc>
              <a:spcAft>
                <a:spcPts val="300"/>
              </a:spcAft>
            </a:pPr>
            <a:r>
              <a:rPr sz="1500" b="1" i="0">
                <a:solidFill>
                  <a:srgbClr val="2B1F5E"/>
                </a:solidFill>
                <a:latin typeface="Arial"/>
              </a:rPr>
              <a:t>Not a replacement for your teaching</a:t>
            </a:r>
          </a:p>
          <a:p>
            <a:pPr algn="l">
              <a:lnSpc>
                <a:spcPct val="128000"/>
              </a:lnSpc>
              <a:spcAft>
                <a:spcPts val="0"/>
              </a:spcAft>
            </a:pPr>
            <a:r>
              <a:rPr sz="1250" b="0" i="0">
                <a:solidFill>
                  <a:srgbClr val="3A3A46"/>
                </a:solidFill>
                <a:latin typeface="Arial"/>
              </a:rPr>
              <a:t>It is one layer on top of your programme: professional English, workplace communication practice, and evidence of both.</a:t>
            </a:r>
          </a:p>
        </p:txBody>
      </p:sp>
      <p:sp>
        <p:nvSpPr>
          <p:cNvPr id="12" name="TextBox 11"/>
          <p:cNvSpPr txBox="1"/>
          <p:nvPr/>
        </p:nvSpPr>
        <p:spPr>
          <a:xfrm>
            <a:off x="786384" y="5943600"/>
            <a:ext cx="10607040" cy="457200"/>
          </a:xfrm>
          <a:prstGeom prst="rect">
            <a:avLst/>
          </a:prstGeom>
          <a:noFill/>
        </p:spPr>
        <p:txBody>
          <a:bodyPr wrap="square" lIns="0" rIns="0" tIns="0" bIns="0">
            <a:spAutoFit/>
          </a:bodyPr>
          <a:lstStyle/>
          <a:p>
            <a:pPr algn="l">
              <a:spcAft>
                <a:spcPts val="0"/>
              </a:spcAft>
            </a:pPr>
            <a:r>
              <a:rPr sz="1250" b="1" i="0">
                <a:solidFill>
                  <a:srgbClr val="6B7083"/>
                </a:solidFill>
                <a:latin typeface="Arial"/>
              </a:rPr>
              <a:t>Worth reflecting in the course page wording before the cohort starts — a suggested sentence is in the proposal.</a:t>
            </a:r>
          </a:p>
        </p:txBody>
      </p:sp>
      <p:sp>
        <p:nvSpPr>
          <p:cNvPr id="13" name="TextBox 12"/>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ligh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566928"/>
            <a:ext cx="10058400" cy="310896"/>
          </a:xfrm>
          <a:prstGeom prst="rect">
            <a:avLst/>
          </a:prstGeom>
          <a:noFill/>
        </p:spPr>
        <p:txBody>
          <a:bodyPr wrap="square" lIns="0" rIns="0" tIns="0" bIns="0">
            <a:spAutoFit/>
          </a:bodyPr>
          <a:lstStyle/>
          <a:p>
            <a:pPr algn="l">
              <a:spcAft>
                <a:spcPts val="0"/>
              </a:spcAft>
            </a:pPr>
            <a:r>
              <a:rPr sz="1250" b="1" i="0">
                <a:solidFill>
                  <a:srgbClr val="4A32DC"/>
                </a:solidFill>
                <a:latin typeface="Arial"/>
              </a:rPr>
              <a:t>BOTH SIDES</a:t>
            </a:r>
          </a:p>
        </p:txBody>
      </p:sp>
      <p:sp>
        <p:nvSpPr>
          <p:cNvPr id="4" name="TextBox 3"/>
          <p:cNvSpPr txBox="1"/>
          <p:nvPr/>
        </p:nvSpPr>
        <p:spPr>
          <a:xfrm>
            <a:off x="786384" y="960120"/>
            <a:ext cx="10607040" cy="1371600"/>
          </a:xfrm>
          <a:prstGeom prst="rect">
            <a:avLst/>
          </a:prstGeom>
          <a:noFill/>
        </p:spPr>
        <p:txBody>
          <a:bodyPr wrap="square" lIns="0" rIns="0" tIns="0" bIns="0">
            <a:spAutoFit/>
          </a:bodyPr>
          <a:lstStyle/>
          <a:p>
            <a:pPr algn="l">
              <a:lnSpc>
                <a:spcPct val="106000"/>
              </a:lnSpc>
              <a:spcAft>
                <a:spcPts val="0"/>
              </a:spcAft>
            </a:pPr>
            <a:r>
              <a:rPr sz="3200" b="1" i="0">
                <a:solidFill>
                  <a:srgbClr val="2B1F5E"/>
                </a:solidFill>
                <a:latin typeface="Arial"/>
              </a:rPr>
              <a:t>What each of us gets out of it</a:t>
            </a:r>
          </a:p>
        </p:txBody>
      </p:sp>
      <p:sp>
        <p:nvSpPr>
          <p:cNvPr id="5" name="Rectangle 4"/>
          <p:cNvSpPr/>
          <p:nvPr/>
        </p:nvSpPr>
        <p:spPr>
          <a:xfrm>
            <a:off x="786384" y="1938528"/>
            <a:ext cx="1828800" cy="44450"/>
          </a:xfrm>
          <a:prstGeom prst="rect">
            <a:avLst/>
          </a:prstGeom>
          <a:solidFill>
            <a:srgbClr val="4A3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2377440"/>
            <a:ext cx="5120640" cy="3200400"/>
          </a:xfrm>
          <a:prstGeom prst="roundRect">
            <a:avLst>
              <a:gd name="adj" fmla="val 6000"/>
            </a:avLst>
          </a:prstGeom>
          <a:solidFill>
            <a:srgbClr val="EFEDFB"/>
          </a:solidFill>
          <a:ln w="12700">
            <a:solidFill>
              <a:srgbClr val="D6D0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596896"/>
            <a:ext cx="4572000" cy="365760"/>
          </a:xfrm>
          <a:prstGeom prst="rect">
            <a:avLst/>
          </a:prstGeom>
          <a:noFill/>
        </p:spPr>
        <p:txBody>
          <a:bodyPr wrap="square" lIns="0" rIns="0" tIns="0" bIns="0">
            <a:spAutoFit/>
          </a:bodyPr>
          <a:lstStyle/>
          <a:p>
            <a:pPr algn="l">
              <a:lnSpc>
                <a:spcPct val="110000"/>
              </a:lnSpc>
              <a:spcAft>
                <a:spcPts val="0"/>
              </a:spcAft>
            </a:pPr>
            <a:r>
              <a:rPr sz="1500" b="1" i="0">
                <a:solidFill>
                  <a:srgbClr val="2B1F5E"/>
                </a:solidFill>
                <a:latin typeface="Arial"/>
              </a:rPr>
              <a:t>Petrocertif Construction Academy</a:t>
            </a:r>
          </a:p>
        </p:txBody>
      </p:sp>
      <p:sp>
        <p:nvSpPr>
          <p:cNvPr id="8" name="TextBox 7"/>
          <p:cNvSpPr txBox="1"/>
          <p:nvPr/>
        </p:nvSpPr>
        <p:spPr>
          <a:xfrm>
            <a:off x="1078992" y="3127248"/>
            <a:ext cx="4535424" cy="640080"/>
          </a:xfrm>
          <a:prstGeom prst="rect">
            <a:avLst/>
          </a:prstGeom>
          <a:noFill/>
        </p:spPr>
        <p:txBody>
          <a:bodyPr wrap="square" lIns="0" rIns="0" tIns="0" bIns="0">
            <a:spAutoFit/>
          </a:bodyPr>
          <a:lstStyle/>
          <a:p>
            <a:pPr algn="l">
              <a:lnSpc>
                <a:spcPct val="128000"/>
              </a:lnSpc>
              <a:spcAft>
                <a:spcPts val="0"/>
              </a:spcAft>
            </a:pPr>
            <a:r>
              <a:rPr sz="1250" b="0" i="0">
                <a:solidFill>
                  <a:srgbClr val="3A3A46"/>
                </a:solidFill>
                <a:latin typeface="Arial"/>
              </a:rPr>
              <a:t/>
            </a:r>
            <a:r>
              <a:rPr sz="1250" b="1">
                <a:solidFill>
                  <a:srgbClr val="4A32DC"/>
                </a:solidFill>
                <a:latin typeface="Arial"/>
              </a:rPr>
              <a:t>·  </a:t>
            </a:r>
            <a:r>
              <a:rPr sz="1250">
                <a:solidFill>
                  <a:srgbClr val="3A3A46"/>
                </a:solidFill>
                <a:latin typeface="Arial"/>
              </a:rPr>
              <a:t>The English line in your offer becomes an evidenced benefit, not a promise.</a:t>
            </a:r>
          </a:p>
        </p:txBody>
      </p:sp>
      <p:sp>
        <p:nvSpPr>
          <p:cNvPr id="9" name="TextBox 8"/>
          <p:cNvSpPr txBox="1"/>
          <p:nvPr/>
        </p:nvSpPr>
        <p:spPr>
          <a:xfrm>
            <a:off x="1078992" y="3694176"/>
            <a:ext cx="4535424" cy="640080"/>
          </a:xfrm>
          <a:prstGeom prst="rect">
            <a:avLst/>
          </a:prstGeom>
          <a:noFill/>
        </p:spPr>
        <p:txBody>
          <a:bodyPr wrap="square" lIns="0" rIns="0" tIns="0" bIns="0">
            <a:spAutoFit/>
          </a:bodyPr>
          <a:lstStyle/>
          <a:p>
            <a:pPr algn="l">
              <a:lnSpc>
                <a:spcPct val="128000"/>
              </a:lnSpc>
              <a:spcAft>
                <a:spcPts val="0"/>
              </a:spcAft>
            </a:pPr>
            <a:r>
              <a:rPr sz="1250" b="0" i="0">
                <a:solidFill>
                  <a:srgbClr val="3A3A46"/>
                </a:solidFill>
                <a:latin typeface="Arial"/>
              </a:rPr>
              <a:t/>
            </a:r>
            <a:r>
              <a:rPr sz="1250" b="1">
                <a:solidFill>
                  <a:srgbClr val="4A32DC"/>
                </a:solidFill>
                <a:latin typeface="Arial"/>
              </a:rPr>
              <a:t>·  </a:t>
            </a:r>
            <a:r>
              <a:rPr sz="1250">
                <a:solidFill>
                  <a:srgbClr val="3A3A46"/>
                </a:solidFill>
                <a:latin typeface="Arial"/>
              </a:rPr>
              <a:t>A report you can show learners, employers and partners.</a:t>
            </a:r>
          </a:p>
        </p:txBody>
      </p:sp>
      <p:sp>
        <p:nvSpPr>
          <p:cNvPr id="10" name="TextBox 9"/>
          <p:cNvSpPr txBox="1"/>
          <p:nvPr/>
        </p:nvSpPr>
        <p:spPr>
          <a:xfrm>
            <a:off x="1078992" y="4261104"/>
            <a:ext cx="4535424" cy="640080"/>
          </a:xfrm>
          <a:prstGeom prst="rect">
            <a:avLst/>
          </a:prstGeom>
          <a:noFill/>
        </p:spPr>
        <p:txBody>
          <a:bodyPr wrap="square" lIns="0" rIns="0" tIns="0" bIns="0">
            <a:spAutoFit/>
          </a:bodyPr>
          <a:lstStyle/>
          <a:p>
            <a:pPr algn="l">
              <a:lnSpc>
                <a:spcPct val="128000"/>
              </a:lnSpc>
              <a:spcAft>
                <a:spcPts val="0"/>
              </a:spcAft>
            </a:pPr>
            <a:r>
              <a:rPr sz="1250" b="0" i="0">
                <a:solidFill>
                  <a:srgbClr val="3A3A46"/>
                </a:solidFill>
                <a:latin typeface="Arial"/>
              </a:rPr>
              <a:t/>
            </a:r>
            <a:r>
              <a:rPr sz="1250" b="1">
                <a:solidFill>
                  <a:srgbClr val="4A32DC"/>
                </a:solidFill>
                <a:latin typeface="Arial"/>
              </a:rPr>
              <a:t>·  </a:t>
            </a:r>
            <a:r>
              <a:rPr sz="1250">
                <a:solidFill>
                  <a:srgbClr val="3A3A46"/>
                </a:solidFill>
                <a:latin typeface="Arial"/>
              </a:rPr>
              <a:t>First choice of which discipline gets built next.</a:t>
            </a:r>
          </a:p>
        </p:txBody>
      </p:sp>
      <p:sp>
        <p:nvSpPr>
          <p:cNvPr id="11" name="TextBox 10"/>
          <p:cNvSpPr txBox="1"/>
          <p:nvPr/>
        </p:nvSpPr>
        <p:spPr>
          <a:xfrm>
            <a:off x="1078992" y="4828032"/>
            <a:ext cx="4535424" cy="640080"/>
          </a:xfrm>
          <a:prstGeom prst="rect">
            <a:avLst/>
          </a:prstGeom>
          <a:noFill/>
        </p:spPr>
        <p:txBody>
          <a:bodyPr wrap="square" lIns="0" rIns="0" tIns="0" bIns="0">
            <a:spAutoFit/>
          </a:bodyPr>
          <a:lstStyle/>
          <a:p>
            <a:pPr algn="l">
              <a:lnSpc>
                <a:spcPct val="128000"/>
              </a:lnSpc>
              <a:spcAft>
                <a:spcPts val="0"/>
              </a:spcAft>
            </a:pPr>
            <a:r>
              <a:rPr sz="1250" b="0" i="0">
                <a:solidFill>
                  <a:srgbClr val="3A3A46"/>
                </a:solidFill>
                <a:latin typeface="Arial"/>
              </a:rPr>
              <a:t/>
            </a:r>
            <a:r>
              <a:rPr sz="1250" b="1">
                <a:solidFill>
                  <a:srgbClr val="4A32DC"/>
                </a:solidFill>
                <a:latin typeface="Arial"/>
              </a:rPr>
              <a:t>·  </a:t>
            </a:r>
            <a:r>
              <a:rPr sz="1250">
                <a:solidFill>
                  <a:srgbClr val="3A3A46"/>
                </a:solidFill>
                <a:latin typeface="Arial"/>
              </a:rPr>
              <a:t>No cost, no licence, no commitment.</a:t>
            </a:r>
          </a:p>
        </p:txBody>
      </p:sp>
      <p:sp>
        <p:nvSpPr>
          <p:cNvPr id="12" name="Rounded Rectangle 11"/>
          <p:cNvSpPr/>
          <p:nvPr/>
        </p:nvSpPr>
        <p:spPr>
          <a:xfrm>
            <a:off x="6272784" y="2377440"/>
            <a:ext cx="5120640" cy="3200400"/>
          </a:xfrm>
          <a:prstGeom prst="roundRect">
            <a:avLst>
              <a:gd name="adj" fmla="val 6000"/>
            </a:avLst>
          </a:prstGeom>
          <a:solidFill>
            <a:srgbClr val="F6F5FD"/>
          </a:solidFill>
          <a:ln w="12700">
            <a:solidFill>
              <a:srgbClr val="DDD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2596896"/>
            <a:ext cx="4572000" cy="365760"/>
          </a:xfrm>
          <a:prstGeom prst="rect">
            <a:avLst/>
          </a:prstGeom>
          <a:noFill/>
        </p:spPr>
        <p:txBody>
          <a:bodyPr wrap="square" lIns="0" rIns="0" tIns="0" bIns="0">
            <a:spAutoFit/>
          </a:bodyPr>
          <a:lstStyle/>
          <a:p>
            <a:pPr algn="l">
              <a:lnSpc>
                <a:spcPct val="110000"/>
              </a:lnSpc>
              <a:spcAft>
                <a:spcPts val="0"/>
              </a:spcAft>
            </a:pPr>
            <a:r>
              <a:rPr sz="1500" b="1" i="0">
                <a:solidFill>
                  <a:srgbClr val="2B1F5E"/>
                </a:solidFill>
                <a:latin typeface="Arial"/>
              </a:rPr>
              <a:t>Lomonec / BE Mastery</a:t>
            </a:r>
          </a:p>
        </p:txBody>
      </p:sp>
      <p:sp>
        <p:nvSpPr>
          <p:cNvPr id="14" name="TextBox 13"/>
          <p:cNvSpPr txBox="1"/>
          <p:nvPr/>
        </p:nvSpPr>
        <p:spPr>
          <a:xfrm>
            <a:off x="6565392" y="3127248"/>
            <a:ext cx="4535424" cy="640080"/>
          </a:xfrm>
          <a:prstGeom prst="rect">
            <a:avLst/>
          </a:prstGeom>
          <a:noFill/>
        </p:spPr>
        <p:txBody>
          <a:bodyPr wrap="square" lIns="0" rIns="0" tIns="0" bIns="0">
            <a:spAutoFit/>
          </a:bodyPr>
          <a:lstStyle/>
          <a:p>
            <a:pPr algn="l">
              <a:lnSpc>
                <a:spcPct val="128000"/>
              </a:lnSpc>
              <a:spcAft>
                <a:spcPts val="0"/>
              </a:spcAft>
            </a:pPr>
            <a:r>
              <a:rPr sz="1250" b="0" i="0">
                <a:solidFill>
                  <a:srgbClr val="3A3A46"/>
                </a:solidFill>
                <a:latin typeface="Arial"/>
              </a:rPr>
              <a:t/>
            </a:r>
            <a:r>
              <a:rPr sz="1250" b="1">
                <a:solidFill>
                  <a:srgbClr val="4A32DC"/>
                </a:solidFill>
                <a:latin typeface="Arial"/>
              </a:rPr>
              <a:t>·  </a:t>
            </a:r>
            <a:r>
              <a:rPr sz="1250">
                <a:solidFill>
                  <a:srgbClr val="3A3A46"/>
                </a:solidFill>
                <a:latin typeface="Arial"/>
              </a:rPr>
              <a:t>The first measured cohort — the evidence needed before approaching anyone else.</a:t>
            </a:r>
          </a:p>
        </p:txBody>
      </p:sp>
      <p:sp>
        <p:nvSpPr>
          <p:cNvPr id="15" name="TextBox 14"/>
          <p:cNvSpPr txBox="1"/>
          <p:nvPr/>
        </p:nvSpPr>
        <p:spPr>
          <a:xfrm>
            <a:off x="6565392" y="3694176"/>
            <a:ext cx="4535424" cy="640080"/>
          </a:xfrm>
          <a:prstGeom prst="rect">
            <a:avLst/>
          </a:prstGeom>
          <a:noFill/>
        </p:spPr>
        <p:txBody>
          <a:bodyPr wrap="square" lIns="0" rIns="0" tIns="0" bIns="0">
            <a:spAutoFit/>
          </a:bodyPr>
          <a:lstStyle/>
          <a:p>
            <a:pPr algn="l">
              <a:lnSpc>
                <a:spcPct val="128000"/>
              </a:lnSpc>
              <a:spcAft>
                <a:spcPts val="0"/>
              </a:spcAft>
            </a:pPr>
            <a:r>
              <a:rPr sz="1250" b="0" i="0">
                <a:solidFill>
                  <a:srgbClr val="3A3A46"/>
                </a:solidFill>
                <a:latin typeface="Arial"/>
              </a:rPr>
              <a:t/>
            </a:r>
            <a:r>
              <a:rPr sz="1250" b="1">
                <a:solidFill>
                  <a:srgbClr val="4A32DC"/>
                </a:solidFill>
                <a:latin typeface="Arial"/>
              </a:rPr>
              <a:t>·  </a:t>
            </a:r>
            <a:r>
              <a:rPr sz="1250">
                <a:solidFill>
                  <a:srgbClr val="3A3A46"/>
                </a:solidFill>
                <a:latin typeface="Arial"/>
              </a:rPr>
              <a:t>Honest product feedback from instructors who know the trade.</a:t>
            </a:r>
          </a:p>
        </p:txBody>
      </p:sp>
      <p:sp>
        <p:nvSpPr>
          <p:cNvPr id="16" name="TextBox 15"/>
          <p:cNvSpPr txBox="1"/>
          <p:nvPr/>
        </p:nvSpPr>
        <p:spPr>
          <a:xfrm>
            <a:off x="6565392" y="4261104"/>
            <a:ext cx="4535424" cy="640080"/>
          </a:xfrm>
          <a:prstGeom prst="rect">
            <a:avLst/>
          </a:prstGeom>
          <a:noFill/>
        </p:spPr>
        <p:txBody>
          <a:bodyPr wrap="square" lIns="0" rIns="0" tIns="0" bIns="0">
            <a:spAutoFit/>
          </a:bodyPr>
          <a:lstStyle/>
          <a:p>
            <a:pPr algn="l">
              <a:lnSpc>
                <a:spcPct val="128000"/>
              </a:lnSpc>
              <a:spcAft>
                <a:spcPts val="0"/>
              </a:spcAft>
            </a:pPr>
            <a:r>
              <a:rPr sz="1250" b="0" i="0">
                <a:solidFill>
                  <a:srgbClr val="3A3A46"/>
                </a:solidFill>
                <a:latin typeface="Arial"/>
              </a:rPr>
              <a:t/>
            </a:r>
            <a:r>
              <a:rPr sz="1250" b="1">
                <a:solidFill>
                  <a:srgbClr val="4A32DC"/>
                </a:solidFill>
                <a:latin typeface="Arial"/>
              </a:rPr>
              <a:t>·  </a:t>
            </a:r>
            <a:r>
              <a:rPr sz="1250">
                <a:solidFill>
                  <a:srgbClr val="3A3A46"/>
                </a:solidFill>
                <a:latin typeface="Arial"/>
              </a:rPr>
              <a:t>A reference, if and only if you are happy to be one.</a:t>
            </a:r>
          </a:p>
        </p:txBody>
      </p:sp>
      <p:sp>
        <p:nvSpPr>
          <p:cNvPr id="17" name="TextBox 16"/>
          <p:cNvSpPr txBox="1"/>
          <p:nvPr/>
        </p:nvSpPr>
        <p:spPr>
          <a:xfrm>
            <a:off x="7315200" y="6382512"/>
            <a:ext cx="4087368" cy="274320"/>
          </a:xfrm>
          <a:prstGeom prst="rect">
            <a:avLst/>
          </a:prstGeom>
          <a:noFill/>
        </p:spPr>
        <p:txBody>
          <a:bodyPr wrap="square" lIns="0" rIns="0" tIns="0" bIns="0">
            <a:spAutoFit/>
          </a:bodyPr>
          <a:lstStyle/>
          <a:p>
            <a:pPr algn="r">
              <a:spcAft>
                <a:spcPts val="0"/>
              </a:spcAft>
            </a:pPr>
            <a:r>
              <a:rPr sz="950" b="0" i="0">
                <a:solidFill>
                  <a:srgbClr val="6B7083"/>
                </a:solidFill>
                <a:latin typeface="Arial"/>
              </a:rPr>
              <a:t>app.lomonec.com  ·  contact@lomonec.com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dark.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86384" y="1691640"/>
            <a:ext cx="10058400" cy="3017520"/>
          </a:xfrm>
          <a:prstGeom prst="rect">
            <a:avLst/>
          </a:prstGeom>
          <a:noFill/>
        </p:spPr>
        <p:txBody>
          <a:bodyPr wrap="square" lIns="0" rIns="0" tIns="0" bIns="0">
            <a:spAutoFit/>
          </a:bodyPr>
          <a:lstStyle/>
          <a:p>
            <a:pPr algn="l">
              <a:spcAft>
                <a:spcPts val="1800"/>
              </a:spcAft>
            </a:pPr>
            <a:r>
              <a:rPr sz="1300" b="1" i="0">
                <a:solidFill>
                  <a:srgbClr val="A798FF"/>
                </a:solidFill>
                <a:latin typeface="Arial"/>
              </a:rPr>
              <a:t>THE ASK</a:t>
            </a:r>
          </a:p>
          <a:p>
            <a:pPr algn="l">
              <a:lnSpc>
                <a:spcPct val="106000"/>
              </a:lnSpc>
              <a:spcAft>
                <a:spcPts val="1000"/>
              </a:spcAft>
            </a:pPr>
            <a:r>
              <a:rPr sz="4200" b="1" i="0">
                <a:solidFill>
                  <a:srgbClr val="FFFFFF"/>
                </a:solidFill>
                <a:latin typeface="Arial"/>
              </a:rPr>
              <a:t>One cohort. Four weeks. Free.</a:t>
            </a:r>
          </a:p>
          <a:p>
            <a:pPr algn="l">
              <a:lnSpc>
                <a:spcPct val="120000"/>
              </a:lnSpc>
              <a:spcAft>
                <a:spcPts val="3000"/>
              </a:spcAft>
            </a:pPr>
            <a:r>
              <a:rPr sz="2200" b="1" i="0">
                <a:solidFill>
                  <a:srgbClr val="A798FF"/>
                </a:solidFill>
                <a:latin typeface="Arial"/>
              </a:rPr>
              <a:t>Nothing published without your approval.</a:t>
            </a:r>
          </a:p>
          <a:p>
            <a:pPr algn="l">
              <a:spcAft>
                <a:spcPts val="1000"/>
              </a:spcAft>
            </a:pPr>
            <a:r>
              <a:rPr sz="1500" b="0" i="0">
                <a:solidFill>
                  <a:srgbClr val="CBC3F5"/>
                </a:solidFill>
                <a:latin typeface="Arial"/>
              </a:rPr>
              <a:t>And two questions I would like answered honestly:</a:t>
            </a:r>
          </a:p>
          <a:p>
            <a:pPr algn="l">
              <a:spcAft>
                <a:spcPts val="500"/>
              </a:spcAft>
            </a:pPr>
            <a:r>
              <a:rPr sz="1700" b="1" i="0">
                <a:solidFill>
                  <a:srgbClr val="FFFFFF"/>
                </a:solidFill>
                <a:latin typeface="Arial"/>
              </a:rPr>
              <a:t>If you did not know me, what would stop you saying yes?</a:t>
            </a:r>
          </a:p>
          <a:p>
            <a:pPr algn="l">
              <a:spcAft>
                <a:spcPts val="0"/>
              </a:spcAft>
            </a:pPr>
            <a:r>
              <a:rPr sz="1700" b="1" i="0">
                <a:solidFill>
                  <a:srgbClr val="FFFFFF"/>
                </a:solidFill>
                <a:latin typeface="Arial"/>
              </a:rPr>
              <a:t>Which slide would you forward to your partners — and which would you delete?</a:t>
            </a:r>
          </a:p>
        </p:txBody>
      </p:sp>
      <p:sp>
        <p:nvSpPr>
          <p:cNvPr id="4" name="TextBox 3"/>
          <p:cNvSpPr txBox="1"/>
          <p:nvPr/>
        </p:nvSpPr>
        <p:spPr>
          <a:xfrm>
            <a:off x="786384" y="5806440"/>
            <a:ext cx="10607040" cy="457200"/>
          </a:xfrm>
          <a:prstGeom prst="rect">
            <a:avLst/>
          </a:prstGeom>
          <a:noFill/>
        </p:spPr>
        <p:txBody>
          <a:bodyPr wrap="square" lIns="0" rIns="0" tIns="0" bIns="0">
            <a:spAutoFit/>
          </a:bodyPr>
          <a:lstStyle/>
          <a:p>
            <a:pPr algn="l">
              <a:spcAft>
                <a:spcPts val="0"/>
              </a:spcAft>
            </a:pPr>
            <a:r>
              <a:rPr sz="1300" b="0" i="0">
                <a:solidFill>
                  <a:srgbClr val="CBC3F5"/>
                </a:solidFill>
                <a:latin typeface="Arial"/>
              </a:rPr>
              <a:t>Lomonec LLC  ·  contact@lomonec.com  ·  app.lomonec.com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